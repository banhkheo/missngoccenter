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f57c568f-5086-b258-5026-f2811ba25172}">
          <p14:sldIdLst>
            <p14:sldId id="256"/>
            <p14:sldId id="257"/>
          </p14:sldIdLst>
        </p14:section>
        <p14:section name="Quy tắc" id="{c6a32aa4-4d8c-6136-b0de-3fefb6746ac4}">
          <p14:sldIdLst>
            <p14:sldId id="258"/>
            <p14:sldId id="259"/>
            <p14:sldId id="260"/>
            <p14:sldId id="261"/>
            <p14:sldId id="262"/>
          </p14:sldIdLst>
        </p14:section>
        <p14:section name="Giao diện" id="{37d2cfe0-073e-0a07-906c-adab16359ece}">
          <p14:sldIdLst>
            <p14:sldId id="263"/>
            <p14:sldId id="264"/>
            <p14:sldId id="265"/>
          </p14:sldIdLst>
        </p14:section>
        <p14:section name="Cần chốt" id="{e0fdcc24-9f45-ad1c-d66f-63609aa78ad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Điểm</c:v>
                </c:pt>
              </c:strCache>
            </c:strRef>
          </c:tx>
          <c:spPr>
            <a:solidFill>
              <a:srgbClr val="0F766E"/>
            </a:solidFill>
            <a:ln w="254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F766E"/>
              </a:solidFill>
              <a:ln w="9525" cap="flat">
                <a:solidFill>
                  <a:srgbClr val="0F766E"/>
                </a:solidFill>
                <a:prstDash val="solid"/>
                <a:round/>
              </a:ln>
              <a:effectLst/>
            </c:spPr>
          </c:marker>
          <c:cat>
            <c:multiLvlStrRef>
              <c:f>Sheet1!$A$2:$A$5</c:f>
              <c:multiLvlStrCache>
                <c:ptCount val="4"/>
                <c:lvl>
                  <c:pt idx="0">
                    <c:v>B1</c:v>
                  </c:pt>
                  <c:pt idx="1">
                    <c:v>B2</c:v>
                  </c:pt>
                  <c:pt idx="2">
                    <c:v>B3</c:v>
                  </c:pt>
                  <c:pt idx="3">
                    <c:v>B4</c:v>
                  </c:pt>
                </c:lvl>
              </c:multiLvlStrCache>
            </c:multiLvlStrRef>
          </c:cat>
          <c:val>
            <c:numRef>
              <c:f>Sheet1!$B$2:$B$5</c:f>
              <c:numCache>
                <c:formatCode>General</c:formatCode>
                <c:ptCount val="4"/>
                <c:pt idx="0">
                  <c:v>8</c:v>
                </c:pt>
                <c:pt idx="1">
                  <c:v>6.2</c:v>
                </c:pt>
                <c:pt idx="2">
                  <c:v>7</c:v>
                </c:pt>
                <c:pt idx="3">
                  <c:v>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
          <c:min val="4"/>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Điểm</c:v>
                </c:pt>
              </c:strCache>
            </c:strRef>
          </c:tx>
          <c:spPr>
            <a:solidFill>
              <a:srgbClr val="0F766E"/>
            </a:solidFill>
            <a:ln w="254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F766E"/>
              </a:solidFill>
              <a:ln w="9525" cap="flat">
                <a:solidFill>
                  <a:srgbClr val="0F766E"/>
                </a:solidFill>
                <a:prstDash val="solid"/>
                <a:round/>
              </a:ln>
              <a:effectLst/>
            </c:spPr>
          </c:marker>
          <c:cat>
            <c:multiLvlStrRef>
              <c:f>Sheet1!$A$2:$A$8</c:f>
              <c:multiLvlStrCache>
                <c:ptCount val="7"/>
                <c:lvl>
                  <c:pt idx="0">
                    <c:v>B1</c:v>
                  </c:pt>
                  <c:pt idx="1">
                    <c:v>B2</c:v>
                  </c:pt>
                  <c:pt idx="2">
                    <c:v>B3</c:v>
                  </c:pt>
                  <c:pt idx="3">
                    <c:v>B4</c:v>
                  </c:pt>
                  <c:pt idx="4">
                    <c:v>B5</c:v>
                  </c:pt>
                  <c:pt idx="5">
                    <c:v>B6</c:v>
                  </c:pt>
                  <c:pt idx="6">
                    <c:v>B7</c:v>
                  </c:pt>
                </c:lvl>
              </c:multiLvlStrCache>
            </c:multiLvlStrRef>
          </c:cat>
          <c:val>
            <c:numRef>
              <c:f>Sheet1!$B$2:$B$8</c:f>
              <c:numCache>
                <c:formatCode>General</c:formatCode>
                <c:ptCount val="7"/>
                <c:pt idx="0">
                  <c:v>8</c:v>
                </c:pt>
                <c:pt idx="1">
                  <c:v>8.2</c:v>
                </c:pt>
                <c:pt idx="2">
                  <c:v>8.1</c:v>
                </c:pt>
                <c:pt idx="3">
                  <c:v>7.5</c:v>
                </c:pt>
                <c:pt idx="4">
                  <c:v>6.8</c:v>
                </c:pt>
                <c:pt idx="5">
                  <c:v>6.5</c:v>
                </c:pt>
                <c:pt idx="6">
                  <c:v>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
          <c:min val="4"/>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Điểm</c:v>
                </c:pt>
              </c:strCache>
            </c:strRef>
          </c:tx>
          <c:spPr>
            <a:solidFill>
              <a:srgbClr val="0F766E"/>
            </a:solidFill>
            <a:ln w="254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F766E"/>
              </a:solidFill>
              <a:ln w="9525" cap="flat">
                <a:solidFill>
                  <a:srgbClr val="0F766E"/>
                </a:solidFill>
                <a:prstDash val="solid"/>
                <a:round/>
              </a:ln>
              <a:effectLst/>
            </c:spPr>
          </c:marker>
          <c:cat>
            <c:multiLvlStrRef>
              <c:f>Sheet1!$A$2:$A$8</c:f>
              <c:multiLvlStrCache>
                <c:ptCount val="7"/>
                <c:lvl>
                  <c:pt idx="0">
                    <c:v>B1</c:v>
                  </c:pt>
                  <c:pt idx="1">
                    <c:v>B2</c:v>
                  </c:pt>
                  <c:pt idx="2">
                    <c:v>B3</c:v>
                  </c:pt>
                  <c:pt idx="3">
                    <c:v>B4</c:v>
                  </c:pt>
                  <c:pt idx="4">
                    <c:v>B5</c:v>
                  </c:pt>
                  <c:pt idx="5">
                    <c:v>B6</c:v>
                  </c:pt>
                  <c:pt idx="6">
                    <c:v>B7</c:v>
                  </c:pt>
                </c:lvl>
              </c:multiLvlStrCache>
            </c:multiLvlStrRef>
          </c:cat>
          <c:val>
            <c:numRef>
              <c:f>Sheet1!$B$2:$B$8</c:f>
              <c:numCache>
                <c:formatCode>General</c:formatCode>
                <c:ptCount val="7"/>
                <c:pt idx="0">
                  <c:v>5</c:v>
                </c:pt>
                <c:pt idx="1">
                  <c:v>5.2</c:v>
                </c:pt>
                <c:pt idx="2">
                  <c:v>5.5</c:v>
                </c:pt>
                <c:pt idx="3">
                  <c:v>6</c:v>
                </c:pt>
                <c:pt idx="4">
                  <c:v>6.8</c:v>
                </c:pt>
                <c:pt idx="5">
                  <c:v>7</c:v>
                </c:pt>
                <c:pt idx="6">
                  <c:v>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
          <c:min val="4"/>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Điểm</c:v>
                </c:pt>
              </c:strCache>
            </c:strRef>
          </c:tx>
          <c:spPr>
            <a:solidFill>
              <a:srgbClr val="0F766E"/>
            </a:solidFill>
            <a:ln w="254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F766E"/>
              </a:solidFill>
              <a:ln w="9525" cap="flat">
                <a:solidFill>
                  <a:srgbClr val="0F766E"/>
                </a:solidFill>
                <a:prstDash val="solid"/>
                <a:round/>
              </a:ln>
              <a:effectLst/>
            </c:spPr>
          </c:marker>
          <c:cat>
            <c:multiLvlStrRef>
              <c:f>Sheet1!$A$2:$A$8</c:f>
              <c:multiLvlStrCache>
                <c:ptCount val="7"/>
                <c:lvl>
                  <c:pt idx="0">
                    <c:v>B1</c:v>
                  </c:pt>
                  <c:pt idx="1">
                    <c:v>B2</c:v>
                  </c:pt>
                  <c:pt idx="2">
                    <c:v>B3</c:v>
                  </c:pt>
                  <c:pt idx="3">
                    <c:v>B4</c:v>
                  </c:pt>
                  <c:pt idx="4">
                    <c:v>B5</c:v>
                  </c:pt>
                  <c:pt idx="5">
                    <c:v>B6</c:v>
                  </c:pt>
                  <c:pt idx="6">
                    <c:v>B7</c:v>
                  </c:pt>
                </c:lvl>
              </c:multiLvlStrCache>
            </c:multiLvlStrRef>
          </c:cat>
          <c:val>
            <c:numRef>
              <c:f>Sheet1!$B$2:$B$8</c:f>
              <c:numCache>
                <c:formatCode>General</c:formatCode>
                <c:ptCount val="7"/>
                <c:pt idx="0">
                  <c:v>7</c:v>
                </c:pt>
                <c:pt idx="1">
                  <c:v>6.6</c:v>
                </c:pt>
                <c:pt idx="2">
                  <c:v>7.4</c:v>
                </c:pt>
                <c:pt idx="3">
                  <c:v>7.1</c:v>
                </c:pt>
                <c:pt idx="4">
                  <c:v>6.8</c:v>
                </c:pt>
                <c:pt idx="5">
                  <c:v>7.3</c:v>
                </c:pt>
                <c:pt idx="6">
                  <c:v>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9"/>
          <c:min val="4"/>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Điểm</c:v>
                </c:pt>
              </c:strCache>
            </c:strRef>
          </c:tx>
          <c:spPr>
            <a:solidFill>
              <a:srgbClr val="0F766E"/>
            </a:solidFill>
            <a:ln w="254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66E"/>
              </a:solidFill>
              <a:ln w="9525" cap="flat">
                <a:solidFill>
                  <a:srgbClr val="0F766E"/>
                </a:solidFill>
                <a:prstDash val="solid"/>
                <a:round/>
              </a:ln>
              <a:effectLst/>
            </c:spPr>
          </c:marker>
          <c:cat>
            <c:multiLvlStrRef>
              <c:f>Sheet1!$A$2:$A$8</c:f>
              <c:multiLvlStrCache>
                <c:ptCount val="7"/>
                <c:lvl>
                  <c:pt idx="0">
                    <c:v>05/09</c:v>
                  </c:pt>
                  <c:pt idx="1">
                    <c:v>12/09</c:v>
                  </c:pt>
                  <c:pt idx="2">
                    <c:v>19/09</c:v>
                  </c:pt>
                  <c:pt idx="3">
                    <c:v>26/09</c:v>
                  </c:pt>
                  <c:pt idx="4">
                    <c:v>03/10</c:v>
                  </c:pt>
                  <c:pt idx="5">
                    <c:v>10/10</c:v>
                  </c:pt>
                  <c:pt idx="6">
                    <c:v>17/10</c:v>
                  </c:pt>
                </c:lvl>
              </c:multiLvlStrCache>
            </c:multiLvlStrRef>
          </c:cat>
          <c:val>
            <c:numRef>
              <c:f>Sheet1!$B$2:$B$8</c:f>
              <c:numCache>
                <c:formatCode>General</c:formatCode>
                <c:ptCount val="7"/>
                <c:pt idx="0">
                  <c:v>5</c:v>
                </c:pt>
                <c:pt idx="1">
                  <c:v>5.2</c:v>
                </c:pt>
                <c:pt idx="2">
                  <c:v>5.5</c:v>
                </c:pt>
                <c:pt idx="3">
                  <c:v>6</c:v>
                </c:pt>
                <c:pt idx="4">
                  <c:v>6.8</c:v>
                </c:pt>
                <c:pt idx="5">
                  <c:v>7</c:v>
                </c:pt>
                <c:pt idx="6">
                  <c:v>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Trung vị 3 bài đầu (5.2)</c:v>
                </c:pt>
              </c:strCache>
            </c:strRef>
          </c:tx>
          <c:spPr>
            <a:solidFill>
              <a:srgbClr val="9CA3AF"/>
            </a:solidFill>
            <a:ln w="19050" cap="flat">
              <a:solidFill>
                <a:srgbClr val="9CA3A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7280"/>
              </a:solidFill>
              <a:ln w="9525" cap="flat">
                <a:solidFill>
                  <a:srgbClr val="9CA3AF"/>
                </a:solidFill>
                <a:prstDash val="solid"/>
                <a:round/>
              </a:ln>
              <a:effectLst/>
            </c:spPr>
          </c:marker>
          <c:cat>
            <c:multiLvlStrRef>
              <c:f>Sheet1!$A$2:$A$8</c:f>
              <c:multiLvlStrCache>
                <c:ptCount val="7"/>
                <c:lvl>
                  <c:pt idx="0">
                    <c:v>05/09</c:v>
                  </c:pt>
                  <c:pt idx="1">
                    <c:v>12/09</c:v>
                  </c:pt>
                  <c:pt idx="2">
                    <c:v>19/09</c:v>
                  </c:pt>
                  <c:pt idx="3">
                    <c:v>26/09</c:v>
                  </c:pt>
                  <c:pt idx="4">
                    <c:v>03/10</c:v>
                  </c:pt>
                  <c:pt idx="5">
                    <c:v>10/10</c:v>
                  </c:pt>
                  <c:pt idx="6">
                    <c:v>17/10</c:v>
                  </c:pt>
                </c:lvl>
              </c:multiLvlStrCache>
            </c:multiLvlStrRef>
          </c:cat>
          <c:val>
            <c:numRef>
              <c:f>Sheet1!$C$2:$C$8</c:f>
              <c:numCache>
                <c:formatCode>General</c:formatCode>
                <c:ptCount val="7"/>
                <c:pt idx="0">
                  <c:v>5.2</c:v>
                </c:pt>
                <c:pt idx="1">
                  <c:v>5.2</c:v>
                </c:pt>
                <c:pt idx="2">
                  <c:v>5.2</c:v>
                </c:pt>
                <c:pt idx="3">
                  <c:v/>
                </c:pt>
                <c:pt idx="4">
                  <c:v/>
                </c:pt>
                <c:pt idx="5">
                  <c:v/>
                </c:pt>
                <c:pt idx="6">
                  <c:v/>
                </c:pt>
              </c:numCache>
            </c:numRef>
          </c:val>
          <c:smooth val="0"/>
        </c:ser>
        <c:ser>
          <c:idx val="2"/>
          <c:order val="2"/>
          <c:tx>
            <c:strRef>
              <c:f>Sheet1!$D$1</c:f>
              <c:strCache>
                <c:ptCount val="1"/>
                <c:pt idx="0">
                  <c:v>Trung vị 3 bài cuối (7.0)</c:v>
                </c:pt>
              </c:strCache>
            </c:strRef>
          </c:tx>
          <c:spPr>
            <a:solidFill>
              <a:srgbClr val="6B7280"/>
            </a:solidFill>
            <a:ln w="19050" cap="flat">
              <a:solidFill>
                <a:srgbClr val="6B7280"/>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7280"/>
              </a:solidFill>
              <a:ln w="9525" cap="flat">
                <a:solidFill>
                  <a:srgbClr val="6B7280"/>
                </a:solidFill>
                <a:prstDash val="solid"/>
                <a:round/>
              </a:ln>
              <a:effectLst/>
            </c:spPr>
          </c:marker>
          <c:cat>
            <c:multiLvlStrRef>
              <c:f>Sheet1!$A$2:$A$8</c:f>
              <c:multiLvlStrCache>
                <c:ptCount val="7"/>
                <c:lvl>
                  <c:pt idx="0">
                    <c:v>05/09</c:v>
                  </c:pt>
                  <c:pt idx="1">
                    <c:v>12/09</c:v>
                  </c:pt>
                  <c:pt idx="2">
                    <c:v>19/09</c:v>
                  </c:pt>
                  <c:pt idx="3">
                    <c:v>26/09</c:v>
                  </c:pt>
                  <c:pt idx="4">
                    <c:v>03/10</c:v>
                  </c:pt>
                  <c:pt idx="5">
                    <c:v>10/10</c:v>
                  </c:pt>
                  <c:pt idx="6">
                    <c:v>17/10</c:v>
                  </c:pt>
                </c:lvl>
              </c:multiLvlStrCache>
            </c:multiLvlStrRef>
          </c:cat>
          <c:val>
            <c:numRef>
              <c:f>Sheet1!$D$2:$D$8</c:f>
              <c:numCache>
                <c:formatCode>General</c:formatCode>
                <c:ptCount val="7"/>
                <c:pt idx="0">
                  <c:v/>
                </c:pt>
                <c:pt idx="1">
                  <c:v/>
                </c:pt>
                <c:pt idx="2">
                  <c:v/>
                </c:pt>
                <c:pt idx="3">
                  <c:v/>
                </c:pt>
                <c:pt idx="4">
                  <c:v>7</c:v>
                </c:pt>
                <c:pt idx="5">
                  <c:v>7</c:v>
                </c:pt>
                <c:pt idx="6">
                  <c:v>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
          <c:min val="4"/>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B728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900">
              <a:solidFill>
                <a:srgbClr val="6B7280"/>
              </a:solidFill>
              <a:latin typeface="+mn-lt"/>
              <a:cs typeface="+mn-lt"/>
            </a:defRPr>
          </a:pPr>
          <a:endParaRPr lang="en-US"/>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slide tóm tắt module Xu hướng học tập theo Quy tắc V1.3: các phần của module, quy tắc phân loại, hai màn hình chính và những điểm cần chốt.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tính không có giao diện. Danh sách lớp và trang học sinh dùng chung kết quả của bộ tính, nên cùng phạm vi thì cùng nhãn.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phạm vi tính độc lập. Tháng không lấy bài tháng trước để bù cho đủ. Chu kỳ không dùng điểm chu kỳ trước để phân loại, nhưng lịch sử vẫn được giữ.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II của quy tắc. Ngưỡng tính theo thang 10, nên mọi điểm phải quy về thang 10 trước khi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Màu xanh nhạt là 3 bài đầu, màu xám là 3 bài cuối, ô xanh đậm là bài nằm ở cả hai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Không ổn định, Thụt lùi và Tiến bộ lấy từ tài liệu V1.3. Ví dụ Cân bằng là dữ liệu minh hoạ. Cân bằng không có nghĩa là điểm đều nhau, chỉ là chưa đạt ngưỡng.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III và IV. Đây là ràng buộc cứng của bộ tính. Bước 1 giống nhau cho cả hai cách, luôn xét trên 4 bài gần nhất của phạm 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chọn phạm vi ở đầu trang đổi nhãn của cả danh sách. Cột nhận xét là bản rút gọn, bản đầy đủ nằm ở trang học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Đường nét đứt là trung vị 3 bài đầu và 3 bài cuối, chỉ hiện khi có từ 6 bài. Bấm nút phía trên để đổi phạm 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Chế độ Năm là đề xuất, cần chốt. Nếu muốn có nhãn theo năm thì phải bổ sung quy tắc riêng vào tài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5 dựa trên chạy thử bộ quy tắc: cùng một bài tụt 1.6 điểm, chuỗi 4 bài ra Thụt lùi, còn chuỗi 7 bài ra Cân bằng.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972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3" name="Text 0"/>
          <p:cNvSpPr/>
          <p:nvPr>
            <p:ph idx="101" type="body" hasCustomPrompt="1"/>
          </p:nvPr>
        </p:nvSpPr>
        <p:spPr>
          <a:xfrm>
            <a:off x="548640" y="2788920"/>
            <a:ext cx="8046720" cy="822960"/>
          </a:xfrm>
          <a:prstGeom prst="rect">
            <a:avLst/>
          </a:prstGeom>
          <a:noFill/>
          <a:ln/>
        </p:spPr>
        <p:txBody>
          <a:bodyPr wrap="square" rtlCol="0"/>
          <a:lstStyle>
            <a:lvl1pPr algn="l" indent="0" marL="0">
              <a:buNone/>
              <a:defRPr lang="en-US" sz="1800" dirty="0">
                <a:solidFill>
                  <a:schemeClr val="tx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chemeClr val="tx2"/>
                </a:solidFill>
              </a:rPr>
              <a:t>Module Xu hướng học tập · Quy tắc V1.3</a:t>
            </a:r>
            <a:endParaRPr lang="en-US" sz="10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8046720" cy="1097280"/>
          </a:xfrm>
          <a:prstGeom prst="rect">
            <a:avLst/>
          </a:prstGeom>
          <a:noFill/>
          <a:ln/>
        </p:spPr>
        <p:txBody>
          <a:bodyPr wrap="square" lIns="0" tIns="0" rIns="0" bIns="0" rtlCol="0" anchor="b"/>
          <a:lstStyle/>
          <a:p>
            <a:pPr algn="l" indent="0" marL="0">
              <a:buNone/>
            </a:pPr>
            <a:r>
              <a:rPr lang="en-US" sz="4000" b="1" dirty="0">
                <a:solidFill>
                  <a:schemeClr val="tx1"/>
                </a:solidFill>
              </a:rPr>
              <a:t>Module Xu hướng học tập</a:t>
            </a:r>
            <a:endParaRPr lang="en-US" sz="4000" dirty="0"/>
          </a:p>
        </p:txBody>
      </p:sp>
      <p:sp>
        <p:nvSpPr>
          <p:cNvPr id="3" name="Text 0"/>
          <p:cNvSpPr/>
          <p:nvPr>
            <p:ph idx="101" type="body" hasCustomPrompt="1"/>
          </p:nvPr>
        </p:nvSpPr>
        <p:spPr>
          <a:xfrm>
            <a:off x="548640" y="2788920"/>
            <a:ext cx="8046720" cy="822960"/>
          </a:xfrm>
          <a:prstGeom prst="rect">
            <a:avLst/>
          </a:prstGeom>
          <a:noFill/>
          <a:ln/>
        </p:spPr>
        <p:txBody>
          <a:bodyPr wrap="square" lIns="0" tIns="0" rIns="0" bIns="0" rtlCol="0" anchor="t"/>
          <a:lstStyle/>
          <a:p>
            <a:pPr algn="l" indent="0" marL="0">
              <a:buNone/>
            </a:pPr>
            <a:r>
              <a:rPr lang="en-US" sz="1800" dirty="0">
                <a:solidFill>
                  <a:schemeClr val="tx2"/>
                </a:solidFill>
              </a:rPr>
              <a:t>Quy tắc đánh giá V1.3 · Anh ngữ Ms. Ngọc</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Module gồm 4 phần</a:t>
            </a:r>
            <a:endParaRPr lang="en-US" sz="2800" dirty="0"/>
          </a:p>
        </p:txBody>
      </p:sp>
      <p:sp>
        <p:nvSpPr>
          <p:cNvPr id="3" name="Text 1"/>
          <p:cNvSpPr txBox="1"/>
          <p:nvPr/>
        </p:nvSpPr>
        <p:spPr>
          <a:xfrm>
            <a:off x="548640" y="1234440"/>
            <a:ext cx="457200" cy="548640"/>
          </a:xfrm>
          <a:prstGeom prst="rect">
            <a:avLst/>
          </a:prstGeom>
          <a:noFill/>
          <a:ln/>
        </p:spPr>
        <p:txBody>
          <a:bodyPr wrap="square" lIns="0" tIns="0" rIns="0" bIns="0" rtlCol="0" anchor="t"/>
          <a:lstStyle/>
          <a:p>
            <a:pPr indent="0" marL="0">
              <a:buNone/>
            </a:pPr>
            <a:r>
              <a:rPr lang="en-US" sz="3000" b="1" dirty="0">
                <a:solidFill>
                  <a:schemeClr val="accent1"/>
                </a:solidFill>
              </a:rPr>
              <a:t>1</a:t>
            </a:r>
            <a:endParaRPr lang="en-US" sz="3000" dirty="0"/>
          </a:p>
        </p:txBody>
      </p:sp>
      <p:sp>
        <p:nvSpPr>
          <p:cNvPr id="4" name="Text 2"/>
          <p:cNvSpPr txBox="1"/>
          <p:nvPr/>
        </p:nvSpPr>
        <p:spPr>
          <a:xfrm>
            <a:off x="1188720" y="1252728"/>
            <a:ext cx="2743200" cy="320040"/>
          </a:xfrm>
          <a:prstGeom prst="rect">
            <a:avLst/>
          </a:prstGeom>
          <a:noFill/>
          <a:ln/>
        </p:spPr>
        <p:txBody>
          <a:bodyPr wrap="square" lIns="0" tIns="0" rIns="0" bIns="0" rtlCol="0" anchor="t"/>
          <a:lstStyle/>
          <a:p>
            <a:pPr indent="0" marL="0">
              <a:buNone/>
            </a:pPr>
            <a:r>
              <a:rPr lang="en-US" sz="1800" b="1" dirty="0">
                <a:solidFill>
                  <a:schemeClr val="tx1"/>
                </a:solidFill>
              </a:rPr>
              <a:t>Bộ tính</a:t>
            </a:r>
            <a:endParaRPr lang="en-US" sz="1800" dirty="0"/>
          </a:p>
        </p:txBody>
      </p:sp>
      <p:sp>
        <p:nvSpPr>
          <p:cNvPr id="5" name="Text 3"/>
          <p:cNvSpPr txBox="1"/>
          <p:nvPr/>
        </p:nvSpPr>
        <p:spPr>
          <a:xfrm>
            <a:off x="1188720" y="1600200"/>
            <a:ext cx="7132320" cy="320040"/>
          </a:xfrm>
          <a:prstGeom prst="rect">
            <a:avLst/>
          </a:prstGeom>
          <a:noFill/>
          <a:ln/>
        </p:spPr>
        <p:txBody>
          <a:bodyPr wrap="square" lIns="0" tIns="0" rIns="0" bIns="0" rtlCol="0" anchor="t"/>
          <a:lstStyle/>
          <a:p>
            <a:pPr indent="0" marL="0">
              <a:buNone/>
            </a:pPr>
            <a:r>
              <a:rPr lang="en-US" sz="1400" dirty="0">
                <a:solidFill>
                  <a:schemeClr val="tx2"/>
                </a:solidFill>
              </a:rPr>
              <a:t>Tính lại sau mỗi bài kiểm tra hợp lệ. Lưu nhãn, lý do và lịch sử.</a:t>
            </a:r>
            <a:endParaRPr lang="en-US" sz="1400" dirty="0"/>
          </a:p>
        </p:txBody>
      </p:sp>
      <p:sp>
        <p:nvSpPr>
          <p:cNvPr id="6" name="Text 4"/>
          <p:cNvSpPr txBox="1"/>
          <p:nvPr/>
        </p:nvSpPr>
        <p:spPr>
          <a:xfrm>
            <a:off x="548640" y="2075688"/>
            <a:ext cx="457200" cy="548640"/>
          </a:xfrm>
          <a:prstGeom prst="rect">
            <a:avLst/>
          </a:prstGeom>
          <a:noFill/>
          <a:ln/>
        </p:spPr>
        <p:txBody>
          <a:bodyPr wrap="square" lIns="0" tIns="0" rIns="0" bIns="0" rtlCol="0" anchor="t"/>
          <a:lstStyle/>
          <a:p>
            <a:pPr indent="0" marL="0">
              <a:buNone/>
            </a:pPr>
            <a:r>
              <a:rPr lang="en-US" sz="3000" b="1" dirty="0">
                <a:solidFill>
                  <a:schemeClr val="accent1"/>
                </a:solidFill>
              </a:rPr>
              <a:t>2</a:t>
            </a:r>
            <a:endParaRPr lang="en-US" sz="3000" dirty="0"/>
          </a:p>
        </p:txBody>
      </p:sp>
      <p:sp>
        <p:nvSpPr>
          <p:cNvPr id="7" name="Text 5"/>
          <p:cNvSpPr txBox="1"/>
          <p:nvPr/>
        </p:nvSpPr>
        <p:spPr>
          <a:xfrm>
            <a:off x="1188720" y="2093976"/>
            <a:ext cx="2743200" cy="320040"/>
          </a:xfrm>
          <a:prstGeom prst="rect">
            <a:avLst/>
          </a:prstGeom>
          <a:noFill/>
          <a:ln/>
        </p:spPr>
        <p:txBody>
          <a:bodyPr wrap="square" lIns="0" tIns="0" rIns="0" bIns="0" rtlCol="0" anchor="t"/>
          <a:lstStyle/>
          <a:p>
            <a:pPr indent="0" marL="0">
              <a:buNone/>
            </a:pPr>
            <a:r>
              <a:rPr lang="en-US" sz="1800" b="1" dirty="0">
                <a:solidFill>
                  <a:schemeClr val="tx1"/>
                </a:solidFill>
              </a:rPr>
              <a:t>Danh sách lớp</a:t>
            </a:r>
            <a:endParaRPr lang="en-US" sz="1800" dirty="0"/>
          </a:p>
        </p:txBody>
      </p:sp>
      <p:sp>
        <p:nvSpPr>
          <p:cNvPr id="8" name="Text 6"/>
          <p:cNvSpPr txBox="1"/>
          <p:nvPr/>
        </p:nvSpPr>
        <p:spPr>
          <a:xfrm>
            <a:off x="1188720" y="2441448"/>
            <a:ext cx="7132320" cy="320040"/>
          </a:xfrm>
          <a:prstGeom prst="rect">
            <a:avLst/>
          </a:prstGeom>
          <a:noFill/>
          <a:ln/>
        </p:spPr>
        <p:txBody>
          <a:bodyPr wrap="square" lIns="0" tIns="0" rIns="0" bIns="0" rtlCol="0" anchor="t"/>
          <a:lstStyle/>
          <a:p>
            <a:pPr indent="0" marL="0">
              <a:buNone/>
            </a:pPr>
            <a:r>
              <a:rPr lang="en-US" sz="1400" dirty="0">
                <a:solidFill>
                  <a:schemeClr val="tx2"/>
                </a:solidFill>
              </a:rPr>
              <a:t>Mỗi học sinh một dòng: nhãn xu hướng và một câu nhận xét ngắn.</a:t>
            </a:r>
            <a:endParaRPr lang="en-US" sz="1400" dirty="0"/>
          </a:p>
        </p:txBody>
      </p:sp>
      <p:sp>
        <p:nvSpPr>
          <p:cNvPr id="9" name="Text 7"/>
          <p:cNvSpPr txBox="1"/>
          <p:nvPr/>
        </p:nvSpPr>
        <p:spPr>
          <a:xfrm>
            <a:off x="548640" y="2916936"/>
            <a:ext cx="457200" cy="548640"/>
          </a:xfrm>
          <a:prstGeom prst="rect">
            <a:avLst/>
          </a:prstGeom>
          <a:noFill/>
          <a:ln/>
        </p:spPr>
        <p:txBody>
          <a:bodyPr wrap="square" lIns="0" tIns="0" rIns="0" bIns="0" rtlCol="0" anchor="t"/>
          <a:lstStyle/>
          <a:p>
            <a:pPr indent="0" marL="0">
              <a:buNone/>
            </a:pPr>
            <a:r>
              <a:rPr lang="en-US" sz="3000" b="1" dirty="0">
                <a:solidFill>
                  <a:schemeClr val="accent1"/>
                </a:solidFill>
              </a:rPr>
              <a:t>3</a:t>
            </a:r>
            <a:endParaRPr lang="en-US" sz="3000" dirty="0"/>
          </a:p>
        </p:txBody>
      </p:sp>
      <p:sp>
        <p:nvSpPr>
          <p:cNvPr id="10" name="Text 8"/>
          <p:cNvSpPr txBox="1"/>
          <p:nvPr/>
        </p:nvSpPr>
        <p:spPr>
          <a:xfrm>
            <a:off x="1188720" y="2935224"/>
            <a:ext cx="2743200" cy="320040"/>
          </a:xfrm>
          <a:prstGeom prst="rect">
            <a:avLst/>
          </a:prstGeom>
          <a:noFill/>
          <a:ln/>
        </p:spPr>
        <p:txBody>
          <a:bodyPr wrap="square" lIns="0" tIns="0" rIns="0" bIns="0" rtlCol="0" anchor="t"/>
          <a:lstStyle/>
          <a:p>
            <a:pPr indent="0" marL="0">
              <a:buNone/>
            </a:pPr>
            <a:r>
              <a:rPr lang="en-US" sz="1800" b="1" dirty="0">
                <a:solidFill>
                  <a:schemeClr val="tx1"/>
                </a:solidFill>
              </a:rPr>
              <a:t>Trang học sinh</a:t>
            </a:r>
            <a:endParaRPr lang="en-US" sz="1800" dirty="0"/>
          </a:p>
        </p:txBody>
      </p:sp>
      <p:sp>
        <p:nvSpPr>
          <p:cNvPr id="11" name="Text 9"/>
          <p:cNvSpPr txBox="1"/>
          <p:nvPr/>
        </p:nvSpPr>
        <p:spPr>
          <a:xfrm>
            <a:off x="1188720" y="3282696"/>
            <a:ext cx="7132320" cy="320040"/>
          </a:xfrm>
          <a:prstGeom prst="rect">
            <a:avLst/>
          </a:prstGeom>
          <a:noFill/>
          <a:ln/>
        </p:spPr>
        <p:txBody>
          <a:bodyPr wrap="square" lIns="0" tIns="0" rIns="0" bIns="0" rtlCol="0" anchor="t"/>
          <a:lstStyle/>
          <a:p>
            <a:pPr indent="0" marL="0">
              <a:buNone/>
            </a:pPr>
            <a:r>
              <a:rPr lang="en-US" sz="1400" dirty="0">
                <a:solidFill>
                  <a:schemeClr val="tx2"/>
                </a:solidFill>
              </a:rPr>
              <a:t>Biểu đồ động, lý do phân loại và nhận xét đầy đủ.</a:t>
            </a:r>
            <a:endParaRPr lang="en-US" sz="1400" dirty="0"/>
          </a:p>
        </p:txBody>
      </p:sp>
      <p:sp>
        <p:nvSpPr>
          <p:cNvPr id="12" name="Text 10"/>
          <p:cNvSpPr txBox="1"/>
          <p:nvPr/>
        </p:nvSpPr>
        <p:spPr>
          <a:xfrm>
            <a:off x="548640" y="3758184"/>
            <a:ext cx="457200" cy="548640"/>
          </a:xfrm>
          <a:prstGeom prst="rect">
            <a:avLst/>
          </a:prstGeom>
          <a:noFill/>
          <a:ln/>
        </p:spPr>
        <p:txBody>
          <a:bodyPr wrap="square" lIns="0" tIns="0" rIns="0" bIns="0" rtlCol="0" anchor="t"/>
          <a:lstStyle/>
          <a:p>
            <a:pPr indent="0" marL="0">
              <a:buNone/>
            </a:pPr>
            <a:r>
              <a:rPr lang="en-US" sz="3000" b="1" dirty="0">
                <a:solidFill>
                  <a:schemeClr val="accent1"/>
                </a:solidFill>
              </a:rPr>
              <a:t>4</a:t>
            </a:r>
            <a:endParaRPr lang="en-US" sz="3000" dirty="0"/>
          </a:p>
        </p:txBody>
      </p:sp>
      <p:sp>
        <p:nvSpPr>
          <p:cNvPr id="13" name="Text 11"/>
          <p:cNvSpPr txBox="1"/>
          <p:nvPr/>
        </p:nvSpPr>
        <p:spPr>
          <a:xfrm>
            <a:off x="1188720" y="3776472"/>
            <a:ext cx="2743200" cy="320040"/>
          </a:xfrm>
          <a:prstGeom prst="rect">
            <a:avLst/>
          </a:prstGeom>
          <a:noFill/>
          <a:ln/>
        </p:spPr>
        <p:txBody>
          <a:bodyPr wrap="square" lIns="0" tIns="0" rIns="0" bIns="0" rtlCol="0" anchor="t"/>
          <a:lstStyle/>
          <a:p>
            <a:pPr indent="0" marL="0">
              <a:buNone/>
            </a:pPr>
            <a:r>
              <a:rPr lang="en-US" sz="1800" b="1" dirty="0">
                <a:solidFill>
                  <a:schemeClr val="tx1"/>
                </a:solidFill>
              </a:rPr>
              <a:t>Xuất báo cáo</a:t>
            </a:r>
            <a:endParaRPr lang="en-US" sz="1800" dirty="0"/>
          </a:p>
        </p:txBody>
      </p:sp>
      <p:sp>
        <p:nvSpPr>
          <p:cNvPr id="14" name="Text 12"/>
          <p:cNvSpPr txBox="1"/>
          <p:nvPr/>
        </p:nvSpPr>
        <p:spPr>
          <a:xfrm>
            <a:off x="1188720" y="4123944"/>
            <a:ext cx="7132320" cy="320040"/>
          </a:xfrm>
          <a:prstGeom prst="rect">
            <a:avLst/>
          </a:prstGeom>
          <a:noFill/>
          <a:ln/>
        </p:spPr>
        <p:txBody>
          <a:bodyPr wrap="square" lIns="0" tIns="0" rIns="0" bIns="0" rtlCol="0" anchor="t"/>
          <a:lstStyle/>
          <a:p>
            <a:pPr indent="0" marL="0">
              <a:buNone/>
            </a:pPr>
            <a:r>
              <a:rPr lang="en-US" sz="1400" dirty="0">
                <a:solidFill>
                  <a:schemeClr val="tx2"/>
                </a:solidFill>
              </a:rPr>
              <a:t>Chọn phạm vi. Báo cáo ghi rõ thời gian dữ liệu đã dùng.</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Ba phạm vi đánh giá</a:t>
            </a:r>
            <a:endParaRPr lang="en-US" sz="2800" dirty="0"/>
          </a:p>
        </p:txBody>
      </p:sp>
      <p:sp>
        <p:nvSpPr>
          <p:cNvPr id="3" name="Text 1"/>
          <p:cNvSpPr txBox="1"/>
          <p:nvPr/>
        </p:nvSpPr>
        <p:spPr>
          <a:xfrm>
            <a:off x="548640" y="1188720"/>
            <a:ext cx="2514600" cy="365760"/>
          </a:xfrm>
          <a:prstGeom prst="rect">
            <a:avLst/>
          </a:prstGeom>
          <a:noFill/>
          <a:ln/>
        </p:spPr>
        <p:txBody>
          <a:bodyPr wrap="square" lIns="0" tIns="0" rIns="0" bIns="0" rtlCol="0" anchor="t"/>
          <a:lstStyle/>
          <a:p>
            <a:pPr indent="0" marL="0">
              <a:buNone/>
            </a:pPr>
            <a:r>
              <a:rPr lang="en-US" sz="1800" b="1" dirty="0">
                <a:solidFill>
                  <a:schemeClr val="tx1"/>
                </a:solidFill>
              </a:rPr>
              <a:t>4 bài gần nhất</a:t>
            </a:r>
            <a:pPr indent="0" marL="0">
              <a:buNone/>
            </a:pPr>
            <a:r>
              <a:rPr lang="en-US" sz="1100" b="1" dirty="0">
                <a:solidFill>
                  <a:schemeClr val="accent1"/>
                </a:solidFill>
              </a:rPr>
              <a:t>  Mặc định</a:t>
            </a:r>
            <a:endParaRPr lang="en-US" sz="1800" dirty="0"/>
          </a:p>
        </p:txBody>
      </p:sp>
      <p:sp>
        <p:nvSpPr>
          <p:cNvPr id="4" name="Text 2"/>
          <p:cNvSpPr txBox="1"/>
          <p:nvPr/>
        </p:nvSpPr>
        <p:spPr>
          <a:xfrm>
            <a:off x="548640" y="1645920"/>
            <a:ext cx="2514600" cy="7315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4 bài hợp lệ mới nhất</a:t>
            </a:r>
            <a:endParaRPr lang="en-US" sz="1400" dirty="0"/>
          </a:p>
          <a:p>
            <a:pPr indent="0" marL="0">
              <a:spcAft>
                <a:spcPts val="400"/>
              </a:spcAft>
              <a:buNone/>
            </a:pPr>
            <a:r>
              <a:rPr lang="en-US" sz="1400" dirty="0">
                <a:solidFill>
                  <a:schemeClr val="tx2"/>
                </a:solidFill>
              </a:rPr>
              <a:t>Thấy thay đổi gần đây</a:t>
            </a:r>
            <a:endParaRPr lang="en-US" sz="1400" dirty="0"/>
          </a:p>
        </p:txBody>
      </p:sp>
      <p:sp>
        <p:nvSpPr>
          <p:cNvPr id="5" name="Text 3"/>
          <p:cNvSpPr txBox="1"/>
          <p:nvPr/>
        </p:nvSpPr>
        <p:spPr>
          <a:xfrm>
            <a:off x="3314700" y="1188720"/>
            <a:ext cx="2514600" cy="365760"/>
          </a:xfrm>
          <a:prstGeom prst="rect">
            <a:avLst/>
          </a:prstGeom>
          <a:noFill/>
          <a:ln/>
        </p:spPr>
        <p:txBody>
          <a:bodyPr wrap="square" lIns="0" tIns="0" rIns="0" bIns="0" rtlCol="0" anchor="t"/>
          <a:lstStyle/>
          <a:p>
            <a:pPr indent="0" marL="0">
              <a:buNone/>
            </a:pPr>
            <a:r>
              <a:rPr lang="en-US" sz="1800" b="1" dirty="0">
                <a:solidFill>
                  <a:schemeClr val="tx1"/>
                </a:solidFill>
              </a:rPr>
              <a:t>Tháng</a:t>
            </a:r>
            <a:endParaRPr lang="en-US" sz="1800" dirty="0"/>
          </a:p>
        </p:txBody>
      </p:sp>
      <p:sp>
        <p:nvSpPr>
          <p:cNvPr id="6" name="Text 4"/>
          <p:cNvSpPr txBox="1"/>
          <p:nvPr/>
        </p:nvSpPr>
        <p:spPr>
          <a:xfrm>
            <a:off x="3314700" y="1645920"/>
            <a:ext cx="2514600" cy="7315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Mọi bài trong tháng chọn</a:t>
            </a:r>
            <a:endParaRPr lang="en-US" sz="1400" dirty="0"/>
          </a:p>
          <a:p>
            <a:pPr indent="0" marL="0">
              <a:spcAft>
                <a:spcPts val="400"/>
              </a:spcAft>
              <a:buNone/>
            </a:pPr>
            <a:r>
              <a:rPr lang="en-US" sz="1400" dirty="0">
                <a:solidFill>
                  <a:schemeClr val="tx2"/>
                </a:solidFill>
              </a:rPr>
              <a:t>Không mượn bài tháng trước</a:t>
            </a:r>
            <a:endParaRPr lang="en-US" sz="1400" dirty="0"/>
          </a:p>
        </p:txBody>
      </p:sp>
      <p:sp>
        <p:nvSpPr>
          <p:cNvPr id="7" name="Text 5"/>
          <p:cNvSpPr txBox="1"/>
          <p:nvPr/>
        </p:nvSpPr>
        <p:spPr>
          <a:xfrm>
            <a:off x="6080760" y="1188720"/>
            <a:ext cx="2514600" cy="365760"/>
          </a:xfrm>
          <a:prstGeom prst="rect">
            <a:avLst/>
          </a:prstGeom>
          <a:noFill/>
          <a:ln/>
        </p:spPr>
        <p:txBody>
          <a:bodyPr wrap="square" lIns="0" tIns="0" rIns="0" bIns="0" rtlCol="0" anchor="t"/>
          <a:lstStyle/>
          <a:p>
            <a:pPr indent="0" marL="0">
              <a:buNone/>
            </a:pPr>
            <a:r>
              <a:rPr lang="en-US" sz="1800" b="1" dirty="0">
                <a:solidFill>
                  <a:schemeClr val="tx1"/>
                </a:solidFill>
              </a:rPr>
              <a:t>Chu kỳ 3 tháng</a:t>
            </a:r>
            <a:endParaRPr lang="en-US" sz="1800" dirty="0"/>
          </a:p>
        </p:txBody>
      </p:sp>
      <p:sp>
        <p:nvSpPr>
          <p:cNvPr id="8" name="Text 6"/>
          <p:cNvSpPr txBox="1"/>
          <p:nvPr/>
        </p:nvSpPr>
        <p:spPr>
          <a:xfrm>
            <a:off x="6080760" y="1645920"/>
            <a:ext cx="2514600" cy="731520"/>
          </a:xfrm>
          <a:prstGeom prst="rect">
            <a:avLst/>
          </a:prstGeom>
          <a:noFill/>
          <a:ln/>
        </p:spPr>
        <p:txBody>
          <a:bodyPr wrap="square" lIns="0" tIns="0" rIns="0" bIns="0" rtlCol="0" anchor="t"/>
          <a:lstStyle/>
          <a:p>
            <a:pPr indent="0" marL="0">
              <a:spcAft>
                <a:spcPts val="400"/>
              </a:spcAft>
              <a:buNone/>
            </a:pPr>
            <a:r>
              <a:rPr lang="en-US" sz="1400" dirty="0">
                <a:solidFill>
                  <a:schemeClr val="tx2"/>
                </a:solidFill>
              </a:rPr>
              <a:t>Mọi bài trong chu kỳ</a:t>
            </a:r>
            <a:endParaRPr lang="en-US" sz="1400" dirty="0"/>
          </a:p>
          <a:p>
            <a:pPr indent="0" marL="0">
              <a:spcAft>
                <a:spcPts val="400"/>
              </a:spcAft>
              <a:buNone/>
            </a:pPr>
            <a:r>
              <a:rPr lang="en-US" sz="1400" dirty="0">
                <a:solidFill>
                  <a:schemeClr val="tx2"/>
                </a:solidFill>
              </a:rPr>
              <a:t>Bắt đầu lại khi sang chu kỳ mới</a:t>
            </a:r>
            <a:endParaRPr lang="en-US" sz="1400" dirty="0"/>
          </a:p>
        </p:txBody>
      </p:sp>
      <p:sp>
        <p:nvSpPr>
          <p:cNvPr id="9" name="Text 7"/>
          <p:cNvSpPr txBox="1"/>
          <p:nvPr/>
        </p:nvSpPr>
        <p:spPr>
          <a:xfrm>
            <a:off x="548640" y="2788920"/>
            <a:ext cx="3657600" cy="274320"/>
          </a:xfrm>
          <a:prstGeom prst="rect">
            <a:avLst/>
          </a:prstGeom>
          <a:noFill/>
          <a:ln/>
        </p:spPr>
        <p:txBody>
          <a:bodyPr wrap="square" lIns="0" tIns="0" rIns="0" bIns="0" rtlCol="0" anchor="t"/>
          <a:lstStyle/>
          <a:p>
            <a:pPr indent="0" marL="0">
              <a:buNone/>
            </a:pPr>
            <a:r>
              <a:rPr lang="en-US" sz="1200" b="1" dirty="0">
                <a:solidFill>
                  <a:schemeClr val="tx2"/>
                </a:solidFill>
              </a:rPr>
              <a:t>Năm học chia 4 chu kỳ</a:t>
            </a:r>
            <a:endParaRPr lang="en-US" sz="1200" dirty="0"/>
          </a:p>
        </p:txBody>
      </p:sp>
      <p:sp>
        <p:nvSpPr>
          <p:cNvPr id="10" name="Tháng T9"/>
          <p:cNvSpPr/>
          <p:nvPr/>
        </p:nvSpPr>
        <p:spPr>
          <a:xfrm>
            <a:off x="548640" y="3520440"/>
            <a:ext cx="548640" cy="457200"/>
          </a:xfrm>
          <a:prstGeom prst="rect">
            <a:avLst/>
          </a:prstGeom>
          <a:solidFill>
            <a:schemeClr val="accent2"/>
          </a:solidFill>
          <a:ln w="12700">
            <a:solidFill>
              <a:srgbClr val="FFFFFF"/>
            </a:solidFill>
            <a:prstDash val="solid"/>
          </a:ln>
        </p:spPr>
      </p:sp>
      <p:sp>
        <p:nvSpPr>
          <p:cNvPr id="11" name="Text 9"/>
          <p:cNvSpPr txBox="1"/>
          <p:nvPr/>
        </p:nvSpPr>
        <p:spPr>
          <a:xfrm>
            <a:off x="548640"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T9</a:t>
            </a:r>
            <a:endParaRPr lang="en-US" sz="1200" dirty="0"/>
          </a:p>
        </p:txBody>
      </p:sp>
      <p:sp>
        <p:nvSpPr>
          <p:cNvPr id="12" name="Text 10"/>
          <p:cNvSpPr txBox="1"/>
          <p:nvPr/>
        </p:nvSpPr>
        <p:spPr>
          <a:xfrm>
            <a:off x="548640" y="3200400"/>
            <a:ext cx="1737360" cy="274320"/>
          </a:xfrm>
          <a:prstGeom prst="rect">
            <a:avLst/>
          </a:prstGeom>
          <a:noFill/>
          <a:ln/>
        </p:spPr>
        <p:txBody>
          <a:bodyPr wrap="square" lIns="0" tIns="0" rIns="0" bIns="0" rtlCol="0" anchor="t"/>
          <a:lstStyle/>
          <a:p>
            <a:pPr indent="0" marL="0">
              <a:buNone/>
            </a:pPr>
            <a:r>
              <a:rPr lang="en-US" sz="1200" b="1" dirty="0">
                <a:solidFill>
                  <a:schemeClr val="accent1"/>
                </a:solidFill>
              </a:rPr>
              <a:t>Chu kỳ 1</a:t>
            </a:r>
            <a:endParaRPr lang="en-US" sz="1200" dirty="0"/>
          </a:p>
        </p:txBody>
      </p:sp>
      <p:sp>
        <p:nvSpPr>
          <p:cNvPr id="13" name="Tháng T10"/>
          <p:cNvSpPr/>
          <p:nvPr/>
        </p:nvSpPr>
        <p:spPr>
          <a:xfrm>
            <a:off x="1152144" y="3520440"/>
            <a:ext cx="548640" cy="457200"/>
          </a:xfrm>
          <a:prstGeom prst="rect">
            <a:avLst/>
          </a:prstGeom>
          <a:solidFill>
            <a:schemeClr val="accent2"/>
          </a:solidFill>
          <a:ln w="12700">
            <a:solidFill>
              <a:srgbClr val="FFFFFF"/>
            </a:solidFill>
            <a:prstDash val="solid"/>
          </a:ln>
        </p:spPr>
      </p:sp>
      <p:sp>
        <p:nvSpPr>
          <p:cNvPr id="14" name="Text 12"/>
          <p:cNvSpPr txBox="1"/>
          <p:nvPr/>
        </p:nvSpPr>
        <p:spPr>
          <a:xfrm>
            <a:off x="1152144"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T10</a:t>
            </a:r>
            <a:endParaRPr lang="en-US" sz="1200" dirty="0"/>
          </a:p>
        </p:txBody>
      </p:sp>
      <p:sp>
        <p:nvSpPr>
          <p:cNvPr id="15" name="Tháng T11"/>
          <p:cNvSpPr/>
          <p:nvPr/>
        </p:nvSpPr>
        <p:spPr>
          <a:xfrm>
            <a:off x="1755648" y="3520440"/>
            <a:ext cx="548640" cy="457200"/>
          </a:xfrm>
          <a:prstGeom prst="rect">
            <a:avLst/>
          </a:prstGeom>
          <a:solidFill>
            <a:schemeClr val="accent2"/>
          </a:solidFill>
          <a:ln w="12700">
            <a:solidFill>
              <a:srgbClr val="FFFFFF"/>
            </a:solidFill>
            <a:prstDash val="solid"/>
          </a:ln>
        </p:spPr>
      </p:sp>
      <p:sp>
        <p:nvSpPr>
          <p:cNvPr id="16" name="Text 14"/>
          <p:cNvSpPr txBox="1"/>
          <p:nvPr/>
        </p:nvSpPr>
        <p:spPr>
          <a:xfrm>
            <a:off x="1755648"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T11</a:t>
            </a:r>
            <a:endParaRPr lang="en-US" sz="1200" dirty="0"/>
          </a:p>
        </p:txBody>
      </p:sp>
      <p:sp>
        <p:nvSpPr>
          <p:cNvPr id="17" name="Tháng T12"/>
          <p:cNvSpPr/>
          <p:nvPr/>
        </p:nvSpPr>
        <p:spPr>
          <a:xfrm>
            <a:off x="2542032" y="3520440"/>
            <a:ext cx="548640" cy="457200"/>
          </a:xfrm>
          <a:prstGeom prst="rect">
            <a:avLst/>
          </a:prstGeom>
          <a:solidFill>
            <a:schemeClr val="bg2"/>
          </a:solidFill>
          <a:ln w="12700">
            <a:solidFill>
              <a:srgbClr val="FFFFFF"/>
            </a:solidFill>
            <a:prstDash val="solid"/>
          </a:ln>
        </p:spPr>
      </p:sp>
      <p:sp>
        <p:nvSpPr>
          <p:cNvPr id="18" name="Text 16"/>
          <p:cNvSpPr txBox="1"/>
          <p:nvPr/>
        </p:nvSpPr>
        <p:spPr>
          <a:xfrm>
            <a:off x="2542032"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T12</a:t>
            </a:r>
            <a:endParaRPr lang="en-US" sz="1200" dirty="0"/>
          </a:p>
        </p:txBody>
      </p:sp>
      <p:sp>
        <p:nvSpPr>
          <p:cNvPr id="19" name="Text 17"/>
          <p:cNvSpPr txBox="1"/>
          <p:nvPr/>
        </p:nvSpPr>
        <p:spPr>
          <a:xfrm>
            <a:off x="2542032" y="3200400"/>
            <a:ext cx="1737360" cy="274320"/>
          </a:xfrm>
          <a:prstGeom prst="rect">
            <a:avLst/>
          </a:prstGeom>
          <a:noFill/>
          <a:ln/>
        </p:spPr>
        <p:txBody>
          <a:bodyPr wrap="square" lIns="0" tIns="0" rIns="0" bIns="0" rtlCol="0" anchor="t"/>
          <a:lstStyle/>
          <a:p>
            <a:pPr indent="0" marL="0">
              <a:buNone/>
            </a:pPr>
            <a:r>
              <a:rPr lang="en-US" sz="1200" b="1" dirty="0">
                <a:solidFill>
                  <a:schemeClr val="tx1"/>
                </a:solidFill>
              </a:rPr>
              <a:t>Chu kỳ 2</a:t>
            </a:r>
            <a:endParaRPr lang="en-US" sz="1200" dirty="0"/>
          </a:p>
        </p:txBody>
      </p:sp>
      <p:sp>
        <p:nvSpPr>
          <p:cNvPr id="20" name="Tháng T1"/>
          <p:cNvSpPr/>
          <p:nvPr/>
        </p:nvSpPr>
        <p:spPr>
          <a:xfrm>
            <a:off x="3145536" y="3520440"/>
            <a:ext cx="548640" cy="457200"/>
          </a:xfrm>
          <a:prstGeom prst="rect">
            <a:avLst/>
          </a:prstGeom>
          <a:solidFill>
            <a:schemeClr val="bg2"/>
          </a:solidFill>
          <a:ln w="12700">
            <a:solidFill>
              <a:srgbClr val="FFFFFF"/>
            </a:solidFill>
            <a:prstDash val="solid"/>
          </a:ln>
        </p:spPr>
      </p:sp>
      <p:sp>
        <p:nvSpPr>
          <p:cNvPr id="21" name="Text 19"/>
          <p:cNvSpPr txBox="1"/>
          <p:nvPr/>
        </p:nvSpPr>
        <p:spPr>
          <a:xfrm>
            <a:off x="3145536"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T1</a:t>
            </a:r>
            <a:endParaRPr lang="en-US" sz="1200" dirty="0"/>
          </a:p>
        </p:txBody>
      </p:sp>
      <p:sp>
        <p:nvSpPr>
          <p:cNvPr id="22" name="Tháng T2"/>
          <p:cNvSpPr/>
          <p:nvPr/>
        </p:nvSpPr>
        <p:spPr>
          <a:xfrm>
            <a:off x="3749040" y="3520440"/>
            <a:ext cx="548640" cy="457200"/>
          </a:xfrm>
          <a:prstGeom prst="rect">
            <a:avLst/>
          </a:prstGeom>
          <a:solidFill>
            <a:schemeClr val="bg2"/>
          </a:solidFill>
          <a:ln w="12700">
            <a:solidFill>
              <a:srgbClr val="FFFFFF"/>
            </a:solidFill>
            <a:prstDash val="solid"/>
          </a:ln>
        </p:spPr>
      </p:sp>
      <p:sp>
        <p:nvSpPr>
          <p:cNvPr id="23" name="Text 21"/>
          <p:cNvSpPr txBox="1"/>
          <p:nvPr/>
        </p:nvSpPr>
        <p:spPr>
          <a:xfrm>
            <a:off x="3749040"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T2</a:t>
            </a:r>
            <a:endParaRPr lang="en-US" sz="1200" dirty="0"/>
          </a:p>
        </p:txBody>
      </p:sp>
      <p:sp>
        <p:nvSpPr>
          <p:cNvPr id="24" name="Tháng T3"/>
          <p:cNvSpPr/>
          <p:nvPr/>
        </p:nvSpPr>
        <p:spPr>
          <a:xfrm>
            <a:off x="4535424" y="3520440"/>
            <a:ext cx="548640" cy="457200"/>
          </a:xfrm>
          <a:prstGeom prst="rect">
            <a:avLst/>
          </a:prstGeom>
          <a:solidFill>
            <a:schemeClr val="bg2"/>
          </a:solidFill>
          <a:ln w="12700">
            <a:solidFill>
              <a:srgbClr val="FFFFFF"/>
            </a:solidFill>
            <a:prstDash val="solid"/>
          </a:ln>
        </p:spPr>
      </p:sp>
      <p:sp>
        <p:nvSpPr>
          <p:cNvPr id="25" name="Text 23"/>
          <p:cNvSpPr txBox="1"/>
          <p:nvPr/>
        </p:nvSpPr>
        <p:spPr>
          <a:xfrm>
            <a:off x="4535424"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T3</a:t>
            </a:r>
            <a:endParaRPr lang="en-US" sz="1200" dirty="0"/>
          </a:p>
        </p:txBody>
      </p:sp>
      <p:sp>
        <p:nvSpPr>
          <p:cNvPr id="26" name="Text 24"/>
          <p:cNvSpPr txBox="1"/>
          <p:nvPr/>
        </p:nvSpPr>
        <p:spPr>
          <a:xfrm>
            <a:off x="4535424" y="3200400"/>
            <a:ext cx="1737360" cy="274320"/>
          </a:xfrm>
          <a:prstGeom prst="rect">
            <a:avLst/>
          </a:prstGeom>
          <a:noFill/>
          <a:ln/>
        </p:spPr>
        <p:txBody>
          <a:bodyPr wrap="square" lIns="0" tIns="0" rIns="0" bIns="0" rtlCol="0" anchor="t"/>
          <a:lstStyle/>
          <a:p>
            <a:pPr indent="0" marL="0">
              <a:buNone/>
            </a:pPr>
            <a:r>
              <a:rPr lang="en-US" sz="1200" b="1" dirty="0">
                <a:solidFill>
                  <a:schemeClr val="tx1"/>
                </a:solidFill>
              </a:rPr>
              <a:t>Chu kỳ 3</a:t>
            </a:r>
            <a:endParaRPr lang="en-US" sz="1200" dirty="0"/>
          </a:p>
        </p:txBody>
      </p:sp>
      <p:sp>
        <p:nvSpPr>
          <p:cNvPr id="27" name="Tháng T4"/>
          <p:cNvSpPr/>
          <p:nvPr/>
        </p:nvSpPr>
        <p:spPr>
          <a:xfrm>
            <a:off x="5138928" y="3520440"/>
            <a:ext cx="548640" cy="457200"/>
          </a:xfrm>
          <a:prstGeom prst="rect">
            <a:avLst/>
          </a:prstGeom>
          <a:solidFill>
            <a:schemeClr val="bg2"/>
          </a:solidFill>
          <a:ln w="12700">
            <a:solidFill>
              <a:srgbClr val="FFFFFF"/>
            </a:solidFill>
            <a:prstDash val="solid"/>
          </a:ln>
        </p:spPr>
      </p:sp>
      <p:sp>
        <p:nvSpPr>
          <p:cNvPr id="28" name="Text 26"/>
          <p:cNvSpPr txBox="1"/>
          <p:nvPr/>
        </p:nvSpPr>
        <p:spPr>
          <a:xfrm>
            <a:off x="5138928"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T4</a:t>
            </a:r>
            <a:endParaRPr lang="en-US" sz="1200" dirty="0"/>
          </a:p>
        </p:txBody>
      </p:sp>
      <p:sp>
        <p:nvSpPr>
          <p:cNvPr id="29" name="Tháng T5"/>
          <p:cNvSpPr/>
          <p:nvPr/>
        </p:nvSpPr>
        <p:spPr>
          <a:xfrm>
            <a:off x="5742432" y="3520440"/>
            <a:ext cx="548640" cy="457200"/>
          </a:xfrm>
          <a:prstGeom prst="rect">
            <a:avLst/>
          </a:prstGeom>
          <a:solidFill>
            <a:schemeClr val="bg2"/>
          </a:solidFill>
          <a:ln w="12700">
            <a:solidFill>
              <a:srgbClr val="FFFFFF"/>
            </a:solidFill>
            <a:prstDash val="solid"/>
          </a:ln>
        </p:spPr>
      </p:sp>
      <p:sp>
        <p:nvSpPr>
          <p:cNvPr id="30" name="Text 28"/>
          <p:cNvSpPr txBox="1"/>
          <p:nvPr/>
        </p:nvSpPr>
        <p:spPr>
          <a:xfrm>
            <a:off x="5742432"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T5</a:t>
            </a:r>
            <a:endParaRPr lang="en-US" sz="1200" dirty="0"/>
          </a:p>
        </p:txBody>
      </p:sp>
      <p:sp>
        <p:nvSpPr>
          <p:cNvPr id="31" name="Tháng T6"/>
          <p:cNvSpPr/>
          <p:nvPr/>
        </p:nvSpPr>
        <p:spPr>
          <a:xfrm>
            <a:off x="6528816" y="3520440"/>
            <a:ext cx="548640" cy="457200"/>
          </a:xfrm>
          <a:prstGeom prst="rect">
            <a:avLst/>
          </a:prstGeom>
          <a:solidFill>
            <a:schemeClr val="bg2"/>
          </a:solidFill>
          <a:ln w="12700">
            <a:solidFill>
              <a:srgbClr val="FFFFFF"/>
            </a:solidFill>
            <a:prstDash val="solid"/>
          </a:ln>
        </p:spPr>
      </p:sp>
      <p:sp>
        <p:nvSpPr>
          <p:cNvPr id="32" name="Text 30"/>
          <p:cNvSpPr txBox="1"/>
          <p:nvPr/>
        </p:nvSpPr>
        <p:spPr>
          <a:xfrm>
            <a:off x="6528816"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T6</a:t>
            </a:r>
            <a:endParaRPr lang="en-US" sz="1200" dirty="0"/>
          </a:p>
        </p:txBody>
      </p:sp>
      <p:sp>
        <p:nvSpPr>
          <p:cNvPr id="33" name="Text 31"/>
          <p:cNvSpPr txBox="1"/>
          <p:nvPr/>
        </p:nvSpPr>
        <p:spPr>
          <a:xfrm>
            <a:off x="6528816" y="3200400"/>
            <a:ext cx="1737360" cy="274320"/>
          </a:xfrm>
          <a:prstGeom prst="rect">
            <a:avLst/>
          </a:prstGeom>
          <a:noFill/>
          <a:ln/>
        </p:spPr>
        <p:txBody>
          <a:bodyPr wrap="square" lIns="0" tIns="0" rIns="0" bIns="0" rtlCol="0" anchor="t"/>
          <a:lstStyle/>
          <a:p>
            <a:pPr indent="0" marL="0">
              <a:buNone/>
            </a:pPr>
            <a:r>
              <a:rPr lang="en-US" sz="1200" b="1" dirty="0">
                <a:solidFill>
                  <a:schemeClr val="tx1"/>
                </a:solidFill>
              </a:rPr>
              <a:t>Chu kỳ 4</a:t>
            </a:r>
            <a:endParaRPr lang="en-US" sz="1200" dirty="0"/>
          </a:p>
        </p:txBody>
      </p:sp>
      <p:sp>
        <p:nvSpPr>
          <p:cNvPr id="34" name="Tháng T7"/>
          <p:cNvSpPr/>
          <p:nvPr/>
        </p:nvSpPr>
        <p:spPr>
          <a:xfrm>
            <a:off x="7132320" y="3520440"/>
            <a:ext cx="548640" cy="457200"/>
          </a:xfrm>
          <a:prstGeom prst="rect">
            <a:avLst/>
          </a:prstGeom>
          <a:solidFill>
            <a:schemeClr val="bg2"/>
          </a:solidFill>
          <a:ln w="12700">
            <a:solidFill>
              <a:srgbClr val="FFFFFF"/>
            </a:solidFill>
            <a:prstDash val="solid"/>
          </a:ln>
        </p:spPr>
      </p:sp>
      <p:sp>
        <p:nvSpPr>
          <p:cNvPr id="35" name="Text 33"/>
          <p:cNvSpPr txBox="1"/>
          <p:nvPr/>
        </p:nvSpPr>
        <p:spPr>
          <a:xfrm>
            <a:off x="7132320"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T7</a:t>
            </a:r>
            <a:endParaRPr lang="en-US" sz="1200" dirty="0"/>
          </a:p>
        </p:txBody>
      </p:sp>
      <p:sp>
        <p:nvSpPr>
          <p:cNvPr id="36" name="Tháng T8"/>
          <p:cNvSpPr/>
          <p:nvPr/>
        </p:nvSpPr>
        <p:spPr>
          <a:xfrm>
            <a:off x="7735824" y="3520440"/>
            <a:ext cx="548640" cy="457200"/>
          </a:xfrm>
          <a:prstGeom prst="rect">
            <a:avLst/>
          </a:prstGeom>
          <a:solidFill>
            <a:schemeClr val="bg2"/>
          </a:solidFill>
          <a:ln w="12700">
            <a:solidFill>
              <a:srgbClr val="FFFFFF"/>
            </a:solidFill>
            <a:prstDash val="solid"/>
          </a:ln>
        </p:spPr>
      </p:sp>
      <p:sp>
        <p:nvSpPr>
          <p:cNvPr id="37" name="Text 35"/>
          <p:cNvSpPr txBox="1"/>
          <p:nvPr/>
        </p:nvSpPr>
        <p:spPr>
          <a:xfrm>
            <a:off x="7735824" y="3520440"/>
            <a:ext cx="548640" cy="457200"/>
          </a:xfrm>
          <a:prstGeom prst="rect">
            <a:avLst/>
          </a:prstGeom>
          <a:noFill/>
          <a:ln/>
        </p:spPr>
        <p:txBody>
          <a:bodyPr wrap="square" lIns="0" tIns="0" rIns="0" bIns="0" rtlCol="0" anchor="ctr"/>
          <a:lstStyle/>
          <a:p>
            <a:pPr algn="ctr" indent="0" marL="0">
              <a:buNone/>
            </a:pPr>
            <a:r>
              <a:rPr lang="en-US" sz="1200" dirty="0">
                <a:solidFill>
                  <a:schemeClr val="tx1"/>
                </a:solidFill>
              </a:rPr>
              <a:t>T8</a:t>
            </a:r>
            <a:endParaRPr lang="en-US" sz="1200" dirty="0"/>
          </a:p>
        </p:txBody>
      </p:sp>
      <p:sp>
        <p:nvSpPr>
          <p:cNvPr id="38" name="Text 36"/>
          <p:cNvSpPr txBox="1"/>
          <p:nvPr/>
        </p:nvSpPr>
        <p:spPr>
          <a:xfrm>
            <a:off x="548640" y="4160520"/>
            <a:ext cx="8046720" cy="274320"/>
          </a:xfrm>
          <a:prstGeom prst="rect">
            <a:avLst/>
          </a:prstGeom>
          <a:noFill/>
          <a:ln/>
        </p:spPr>
        <p:txBody>
          <a:bodyPr wrap="square" lIns="0" tIns="0" rIns="0" bIns="0" rtlCol="0" anchor="t"/>
          <a:lstStyle/>
          <a:p>
            <a:pPr indent="0" marL="0">
              <a:buNone/>
            </a:pPr>
            <a:r>
              <a:rPr lang="en-US" sz="1200" dirty="0">
                <a:solidFill>
                  <a:schemeClr val="tx2"/>
                </a:solidFill>
              </a:rPr>
              <a:t>Học sinh vào giữa chu kỳ vẫn kết thúc và bắt đầu lại theo lịch chung.</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Số bài quyết định cách tính</a:t>
            </a:r>
            <a:endParaRPr lang="en-US" sz="2800" dirty="0"/>
          </a:p>
        </p:txBody>
      </p:sp>
      <p:sp>
        <p:nvSpPr>
          <p:cNvPr id="3" name="Text 1"/>
          <p:cNvSpPr txBox="1"/>
          <p:nvPr/>
        </p:nvSpPr>
        <p:spPr>
          <a:xfrm>
            <a:off x="548640" y="1234440"/>
            <a:ext cx="2514600" cy="822960"/>
          </a:xfrm>
          <a:prstGeom prst="rect">
            <a:avLst/>
          </a:prstGeom>
          <a:noFill/>
          <a:ln/>
        </p:spPr>
        <p:txBody>
          <a:bodyPr wrap="square" lIns="0" tIns="0" rIns="0" bIns="0" rtlCol="0" anchor="t"/>
          <a:lstStyle/>
          <a:p>
            <a:pPr indent="0" marL="0">
              <a:buNone/>
            </a:pPr>
            <a:r>
              <a:rPr lang="en-US" sz="4800" b="1" dirty="0">
                <a:solidFill>
                  <a:schemeClr val="accent1"/>
                </a:solidFill>
              </a:rPr>
              <a:t>&lt; 4</a:t>
            </a:r>
            <a:endParaRPr lang="en-US" sz="4800" dirty="0"/>
          </a:p>
        </p:txBody>
      </p:sp>
      <p:sp>
        <p:nvSpPr>
          <p:cNvPr id="4" name="Text 2"/>
          <p:cNvSpPr txBox="1"/>
          <p:nvPr/>
        </p:nvSpPr>
        <p:spPr>
          <a:xfrm>
            <a:off x="548640" y="2057400"/>
            <a:ext cx="2514600" cy="274320"/>
          </a:xfrm>
          <a:prstGeom prst="rect">
            <a:avLst/>
          </a:prstGeom>
          <a:noFill/>
          <a:ln/>
        </p:spPr>
        <p:txBody>
          <a:bodyPr wrap="square" lIns="0" tIns="0" rIns="0" bIns="0" rtlCol="0" anchor="t"/>
          <a:lstStyle/>
          <a:p>
            <a:pPr indent="0" marL="0">
              <a:buNone/>
            </a:pPr>
            <a:r>
              <a:rPr lang="en-US" sz="1200" dirty="0">
                <a:solidFill>
                  <a:schemeClr val="tx2"/>
                </a:solidFill>
              </a:rPr>
              <a:t>bài</a:t>
            </a:r>
            <a:endParaRPr lang="en-US" sz="1200" dirty="0"/>
          </a:p>
        </p:txBody>
      </p:sp>
      <p:sp>
        <p:nvSpPr>
          <p:cNvPr id="5" name="Text 3"/>
          <p:cNvSpPr txBox="1"/>
          <p:nvPr/>
        </p:nvSpPr>
        <p:spPr>
          <a:xfrm>
            <a:off x="548640" y="2514600"/>
            <a:ext cx="2514600" cy="365760"/>
          </a:xfrm>
          <a:prstGeom prst="rect">
            <a:avLst/>
          </a:prstGeom>
          <a:noFill/>
          <a:ln/>
        </p:spPr>
        <p:txBody>
          <a:bodyPr wrap="square" lIns="0" tIns="0" rIns="0" bIns="0" rtlCol="0" anchor="t"/>
          <a:lstStyle/>
          <a:p>
            <a:pPr indent="0" marL="0">
              <a:buNone/>
            </a:pPr>
            <a:r>
              <a:rPr lang="en-US" sz="1800" b="1" dirty="0">
                <a:solidFill>
                  <a:schemeClr val="tx1"/>
                </a:solidFill>
              </a:rPr>
              <a:t>Chưa đủ dữ liệu</a:t>
            </a:r>
            <a:endParaRPr lang="en-US" sz="1800" dirty="0"/>
          </a:p>
        </p:txBody>
      </p:sp>
      <p:sp>
        <p:nvSpPr>
          <p:cNvPr id="6" name="Text 4"/>
          <p:cNvSpPr txBox="1"/>
          <p:nvPr/>
        </p:nvSpPr>
        <p:spPr>
          <a:xfrm>
            <a:off x="548640" y="2926080"/>
            <a:ext cx="2331720" cy="685800"/>
          </a:xfrm>
          <a:prstGeom prst="rect">
            <a:avLst/>
          </a:prstGeom>
          <a:noFill/>
          <a:ln/>
        </p:spPr>
        <p:txBody>
          <a:bodyPr wrap="square" lIns="0" tIns="0" rIns="0" bIns="0" rtlCol="0" anchor="t"/>
          <a:lstStyle/>
          <a:p>
            <a:pPr indent="0" marL="0">
              <a:buNone/>
            </a:pPr>
            <a:r>
              <a:rPr lang="en-US" sz="1400" dirty="0">
                <a:solidFill>
                  <a:schemeClr val="tx2"/>
                </a:solidFill>
              </a:rPr>
              <a:t>Không đưa ra kết luận.</a:t>
            </a:r>
            <a:endParaRPr lang="en-US" sz="1400" dirty="0"/>
          </a:p>
        </p:txBody>
      </p:sp>
      <p:sp>
        <p:nvSpPr>
          <p:cNvPr id="7" name="Text 5"/>
          <p:cNvSpPr txBox="1"/>
          <p:nvPr/>
        </p:nvSpPr>
        <p:spPr>
          <a:xfrm>
            <a:off x="3314700" y="1234440"/>
            <a:ext cx="2514600" cy="822960"/>
          </a:xfrm>
          <a:prstGeom prst="rect">
            <a:avLst/>
          </a:prstGeom>
          <a:noFill/>
          <a:ln/>
        </p:spPr>
        <p:txBody>
          <a:bodyPr wrap="square" lIns="0" tIns="0" rIns="0" bIns="0" rtlCol="0" anchor="t"/>
          <a:lstStyle/>
          <a:p>
            <a:pPr indent="0" marL="0">
              <a:buNone/>
            </a:pPr>
            <a:r>
              <a:rPr lang="en-US" sz="4800" b="1" dirty="0">
                <a:solidFill>
                  <a:schemeClr val="accent1"/>
                </a:solidFill>
              </a:rPr>
              <a:t>4–5</a:t>
            </a:r>
            <a:endParaRPr lang="en-US" sz="4800" dirty="0"/>
          </a:p>
        </p:txBody>
      </p:sp>
      <p:sp>
        <p:nvSpPr>
          <p:cNvPr id="8" name="Text 6"/>
          <p:cNvSpPr txBox="1"/>
          <p:nvPr/>
        </p:nvSpPr>
        <p:spPr>
          <a:xfrm>
            <a:off x="3314700" y="2057400"/>
            <a:ext cx="2514600" cy="274320"/>
          </a:xfrm>
          <a:prstGeom prst="rect">
            <a:avLst/>
          </a:prstGeom>
          <a:noFill/>
          <a:ln/>
        </p:spPr>
        <p:txBody>
          <a:bodyPr wrap="square" lIns="0" tIns="0" rIns="0" bIns="0" rtlCol="0" anchor="t"/>
          <a:lstStyle/>
          <a:p>
            <a:pPr indent="0" marL="0">
              <a:buNone/>
            </a:pPr>
            <a:r>
              <a:rPr lang="en-US" sz="1200" dirty="0">
                <a:solidFill>
                  <a:schemeClr val="tx2"/>
                </a:solidFill>
              </a:rPr>
              <a:t>bài</a:t>
            </a:r>
            <a:endParaRPr lang="en-US" sz="1200" dirty="0"/>
          </a:p>
        </p:txBody>
      </p:sp>
      <p:sp>
        <p:nvSpPr>
          <p:cNvPr id="9" name="Text 7"/>
          <p:cNvSpPr txBox="1"/>
          <p:nvPr/>
        </p:nvSpPr>
        <p:spPr>
          <a:xfrm>
            <a:off x="3314700" y="2514600"/>
            <a:ext cx="2514600" cy="365760"/>
          </a:xfrm>
          <a:prstGeom prst="rect">
            <a:avLst/>
          </a:prstGeom>
          <a:noFill/>
          <a:ln/>
        </p:spPr>
        <p:txBody>
          <a:bodyPr wrap="square" lIns="0" tIns="0" rIns="0" bIns="0" rtlCol="0" anchor="t"/>
          <a:lstStyle/>
          <a:p>
            <a:pPr indent="0" marL="0">
              <a:buNone/>
            </a:pPr>
            <a:r>
              <a:rPr lang="en-US" sz="1800" b="1" dirty="0">
                <a:solidFill>
                  <a:schemeClr val="tx1"/>
                </a:solidFill>
              </a:rPr>
              <a:t>So bài cuối</a:t>
            </a:r>
            <a:endParaRPr lang="en-US" sz="1800" dirty="0"/>
          </a:p>
        </p:txBody>
      </p:sp>
      <p:sp>
        <p:nvSpPr>
          <p:cNvPr id="10" name="Text 8"/>
          <p:cNvSpPr txBox="1"/>
          <p:nvPr/>
        </p:nvSpPr>
        <p:spPr>
          <a:xfrm>
            <a:off x="3314700" y="2926080"/>
            <a:ext cx="2331720" cy="685800"/>
          </a:xfrm>
          <a:prstGeom prst="rect">
            <a:avLst/>
          </a:prstGeom>
          <a:noFill/>
          <a:ln/>
        </p:spPr>
        <p:txBody>
          <a:bodyPr wrap="square" lIns="0" tIns="0" rIns="0" bIns="0" rtlCol="0" anchor="t"/>
          <a:lstStyle/>
          <a:p>
            <a:pPr indent="0" marL="0">
              <a:buNone/>
            </a:pPr>
            <a:r>
              <a:rPr lang="en-US" sz="1400" dirty="0">
                <a:solidFill>
                  <a:schemeClr val="tx2"/>
                </a:solidFill>
              </a:rPr>
              <a:t>Với điểm cao nhất hoặc thấp nhất trước đó. Ngưỡng 1.5.</a:t>
            </a:r>
            <a:endParaRPr lang="en-US" sz="1400" dirty="0"/>
          </a:p>
        </p:txBody>
      </p:sp>
      <p:sp>
        <p:nvSpPr>
          <p:cNvPr id="11" name="Text 9"/>
          <p:cNvSpPr txBox="1"/>
          <p:nvPr/>
        </p:nvSpPr>
        <p:spPr>
          <a:xfrm>
            <a:off x="6080760" y="1234440"/>
            <a:ext cx="2514600" cy="822960"/>
          </a:xfrm>
          <a:prstGeom prst="rect">
            <a:avLst/>
          </a:prstGeom>
          <a:noFill/>
          <a:ln/>
        </p:spPr>
        <p:txBody>
          <a:bodyPr wrap="square" lIns="0" tIns="0" rIns="0" bIns="0" rtlCol="0" anchor="t"/>
          <a:lstStyle/>
          <a:p>
            <a:pPr indent="0" marL="0">
              <a:buNone/>
            </a:pPr>
            <a:r>
              <a:rPr lang="en-US" sz="4800" b="1" dirty="0">
                <a:solidFill>
                  <a:schemeClr val="accent1"/>
                </a:solidFill>
              </a:rPr>
              <a:t>≥ 6</a:t>
            </a:r>
            <a:endParaRPr lang="en-US" sz="4800" dirty="0"/>
          </a:p>
        </p:txBody>
      </p:sp>
      <p:sp>
        <p:nvSpPr>
          <p:cNvPr id="12" name="Text 10"/>
          <p:cNvSpPr txBox="1"/>
          <p:nvPr/>
        </p:nvSpPr>
        <p:spPr>
          <a:xfrm>
            <a:off x="6080760" y="2057400"/>
            <a:ext cx="2514600" cy="274320"/>
          </a:xfrm>
          <a:prstGeom prst="rect">
            <a:avLst/>
          </a:prstGeom>
          <a:noFill/>
          <a:ln/>
        </p:spPr>
        <p:txBody>
          <a:bodyPr wrap="square" lIns="0" tIns="0" rIns="0" bIns="0" rtlCol="0" anchor="t"/>
          <a:lstStyle/>
          <a:p>
            <a:pPr indent="0" marL="0">
              <a:buNone/>
            </a:pPr>
            <a:r>
              <a:rPr lang="en-US" sz="1200" dirty="0">
                <a:solidFill>
                  <a:schemeClr val="tx2"/>
                </a:solidFill>
              </a:rPr>
              <a:t>bài</a:t>
            </a:r>
            <a:endParaRPr lang="en-US" sz="1200" dirty="0"/>
          </a:p>
        </p:txBody>
      </p:sp>
      <p:sp>
        <p:nvSpPr>
          <p:cNvPr id="13" name="Text 11"/>
          <p:cNvSpPr txBox="1"/>
          <p:nvPr/>
        </p:nvSpPr>
        <p:spPr>
          <a:xfrm>
            <a:off x="6080760" y="2514600"/>
            <a:ext cx="2514600" cy="365760"/>
          </a:xfrm>
          <a:prstGeom prst="rect">
            <a:avLst/>
          </a:prstGeom>
          <a:noFill/>
          <a:ln/>
        </p:spPr>
        <p:txBody>
          <a:bodyPr wrap="square" lIns="0" tIns="0" rIns="0" bIns="0" rtlCol="0" anchor="t"/>
          <a:lstStyle/>
          <a:p>
            <a:pPr indent="0" marL="0">
              <a:buNone/>
            </a:pPr>
            <a:r>
              <a:rPr lang="en-US" sz="1800" b="1" dirty="0">
                <a:solidFill>
                  <a:schemeClr val="tx1"/>
                </a:solidFill>
              </a:rPr>
              <a:t>So trung vị</a:t>
            </a:r>
            <a:endParaRPr lang="en-US" sz="1800" dirty="0"/>
          </a:p>
        </p:txBody>
      </p:sp>
      <p:sp>
        <p:nvSpPr>
          <p:cNvPr id="14" name="Text 12"/>
          <p:cNvSpPr txBox="1"/>
          <p:nvPr/>
        </p:nvSpPr>
        <p:spPr>
          <a:xfrm>
            <a:off x="6080760" y="2926080"/>
            <a:ext cx="2331720" cy="685800"/>
          </a:xfrm>
          <a:prstGeom prst="rect">
            <a:avLst/>
          </a:prstGeom>
          <a:noFill/>
          <a:ln/>
        </p:spPr>
        <p:txBody>
          <a:bodyPr wrap="square" lIns="0" tIns="0" rIns="0" bIns="0" rtlCol="0" anchor="t"/>
          <a:lstStyle/>
          <a:p>
            <a:pPr indent="0" marL="0">
              <a:buNone/>
            </a:pPr>
            <a:r>
              <a:rPr lang="en-US" sz="1400" dirty="0">
                <a:solidFill>
                  <a:schemeClr val="tx2"/>
                </a:solidFill>
              </a:rPr>
              <a:t>3 bài đầu với 3 bài cuối. Ngưỡng 1.0.</a:t>
            </a:r>
            <a:endParaRPr lang="en-US" sz="1400" dirty="0"/>
          </a:p>
        </p:txBody>
      </p:sp>
      <p:sp>
        <p:nvSpPr>
          <p:cNvPr id="15" name="Text 13"/>
          <p:cNvSpPr txBox="1"/>
          <p:nvPr/>
        </p:nvSpPr>
        <p:spPr>
          <a:xfrm>
            <a:off x="548640" y="4069080"/>
            <a:ext cx="8046720" cy="320040"/>
          </a:xfrm>
          <a:prstGeom prst="rect">
            <a:avLst/>
          </a:prstGeom>
          <a:noFill/>
          <a:ln/>
        </p:spPr>
        <p:txBody>
          <a:bodyPr wrap="square" lIns="0" tIns="0" rIns="0" bIns="0" rtlCol="0" anchor="t"/>
          <a:lstStyle/>
          <a:p>
            <a:pPr indent="0" marL="0">
              <a:buNone/>
            </a:pPr>
            <a:r>
              <a:rPr lang="en-US" sz="1400" dirty="0">
                <a:solidFill>
                  <a:schemeClr val="tx1"/>
                </a:solidFill>
              </a:rPr>
              <a:t>Báo cáo "4 bài gần nhất" luôn có đúng 4 bài, nên luôn dùng cách so bài cuối.</a:t>
            </a:r>
            <a:endParaRPr lang="en-US" sz="14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Trung vị, và vì sao 4–5 bài không dùng được</a:t>
            </a:r>
            <a:endParaRPr lang="en-US" sz="2800" dirty="0"/>
          </a:p>
        </p:txBody>
      </p:sp>
      <p:sp>
        <p:nvSpPr>
          <p:cNvPr id="3" name="Text 1"/>
          <p:cNvSpPr txBox="1"/>
          <p:nvPr/>
        </p:nvSpPr>
        <p:spPr>
          <a:xfrm>
            <a:off x="548640" y="1188720"/>
            <a:ext cx="3657600" cy="320040"/>
          </a:xfrm>
          <a:prstGeom prst="rect">
            <a:avLst/>
          </a:prstGeom>
          <a:noFill/>
          <a:ln/>
        </p:spPr>
        <p:txBody>
          <a:bodyPr wrap="square" lIns="0" tIns="0" rIns="0" bIns="0" rtlCol="0" anchor="t"/>
          <a:lstStyle/>
          <a:p>
            <a:pPr indent="0" marL="0">
              <a:buNone/>
            </a:pPr>
            <a:r>
              <a:rPr lang="en-US" sz="1600" b="1" dirty="0">
                <a:solidFill>
                  <a:schemeClr val="tx1"/>
                </a:solidFill>
              </a:rPr>
              <a:t>Trung vị là số ở giữa</a:t>
            </a:r>
            <a:endParaRPr lang="en-US" sz="1600" dirty="0"/>
          </a:p>
        </p:txBody>
      </p:sp>
      <p:sp>
        <p:nvSpPr>
          <p:cNvPr id="4" name="Text 2"/>
          <p:cNvSpPr txBox="1"/>
          <p:nvPr/>
        </p:nvSpPr>
        <p:spPr>
          <a:xfrm>
            <a:off x="548640" y="1691640"/>
            <a:ext cx="914400" cy="228600"/>
          </a:xfrm>
          <a:prstGeom prst="rect">
            <a:avLst/>
          </a:prstGeom>
          <a:noFill/>
          <a:ln/>
        </p:spPr>
        <p:txBody>
          <a:bodyPr wrap="square" lIns="0" tIns="0" rIns="0" bIns="0" rtlCol="0" anchor="t"/>
          <a:lstStyle/>
          <a:p>
            <a:pPr indent="0" marL="0">
              <a:buNone/>
            </a:pPr>
            <a:r>
              <a:rPr lang="en-US" sz="1100" dirty="0">
                <a:solidFill>
                  <a:schemeClr val="tx2"/>
                </a:solidFill>
              </a:rPr>
              <a:t>3 bài</a:t>
            </a:r>
            <a:endParaRPr lang="en-US" sz="1100" dirty="0"/>
          </a:p>
        </p:txBody>
      </p:sp>
      <p:sp>
        <p:nvSpPr>
          <p:cNvPr id="5" name="Ô 7"/>
          <p:cNvSpPr/>
          <p:nvPr/>
        </p:nvSpPr>
        <p:spPr>
          <a:xfrm>
            <a:off x="548640" y="1938528"/>
            <a:ext cx="457200" cy="457200"/>
          </a:xfrm>
          <a:prstGeom prst="rect">
            <a:avLst/>
          </a:prstGeom>
          <a:solidFill>
            <a:schemeClr val="bg1"/>
          </a:solidFill>
          <a:ln w="9525">
            <a:solidFill>
              <a:srgbClr val="D1D5DB"/>
            </a:solidFill>
            <a:prstDash val="solid"/>
          </a:ln>
        </p:spPr>
      </p:sp>
      <p:sp>
        <p:nvSpPr>
          <p:cNvPr id="6" name="Text 4"/>
          <p:cNvSpPr txBox="1"/>
          <p:nvPr/>
        </p:nvSpPr>
        <p:spPr>
          <a:xfrm>
            <a:off x="548640" y="19385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7</a:t>
            </a:r>
            <a:endParaRPr lang="en-US" sz="1400" dirty="0"/>
          </a:p>
        </p:txBody>
      </p:sp>
      <p:sp>
        <p:nvSpPr>
          <p:cNvPr id="7" name="Ô 5"/>
          <p:cNvSpPr/>
          <p:nvPr/>
        </p:nvSpPr>
        <p:spPr>
          <a:xfrm>
            <a:off x="1097280" y="1938528"/>
            <a:ext cx="457200" cy="457200"/>
          </a:xfrm>
          <a:prstGeom prst="rect">
            <a:avLst/>
          </a:prstGeom>
          <a:solidFill>
            <a:schemeClr val="bg1"/>
          </a:solidFill>
          <a:ln w="9525">
            <a:solidFill>
              <a:srgbClr val="D1D5DB"/>
            </a:solidFill>
            <a:prstDash val="solid"/>
          </a:ln>
        </p:spPr>
      </p:sp>
      <p:sp>
        <p:nvSpPr>
          <p:cNvPr id="8" name="Text 6"/>
          <p:cNvSpPr txBox="1"/>
          <p:nvPr/>
        </p:nvSpPr>
        <p:spPr>
          <a:xfrm>
            <a:off x="1097280" y="19385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5</a:t>
            </a:r>
            <a:endParaRPr lang="en-US" sz="1400" dirty="0"/>
          </a:p>
        </p:txBody>
      </p:sp>
      <p:sp>
        <p:nvSpPr>
          <p:cNvPr id="9" name="Ô 8"/>
          <p:cNvSpPr/>
          <p:nvPr/>
        </p:nvSpPr>
        <p:spPr>
          <a:xfrm>
            <a:off x="1645920" y="1938528"/>
            <a:ext cx="457200" cy="457200"/>
          </a:xfrm>
          <a:prstGeom prst="rect">
            <a:avLst/>
          </a:prstGeom>
          <a:solidFill>
            <a:schemeClr val="bg1"/>
          </a:solidFill>
          <a:ln w="9525">
            <a:solidFill>
              <a:srgbClr val="D1D5DB"/>
            </a:solidFill>
            <a:prstDash val="solid"/>
          </a:ln>
        </p:spPr>
      </p:sp>
      <p:sp>
        <p:nvSpPr>
          <p:cNvPr id="10" name="Text 8"/>
          <p:cNvSpPr txBox="1"/>
          <p:nvPr/>
        </p:nvSpPr>
        <p:spPr>
          <a:xfrm>
            <a:off x="1645920" y="19385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8</a:t>
            </a:r>
            <a:endParaRPr lang="en-US" sz="1400" dirty="0"/>
          </a:p>
        </p:txBody>
      </p:sp>
      <p:sp>
        <p:nvSpPr>
          <p:cNvPr id="11" name="Text 9"/>
          <p:cNvSpPr txBox="1"/>
          <p:nvPr/>
        </p:nvSpPr>
        <p:spPr>
          <a:xfrm>
            <a:off x="548640" y="2606040"/>
            <a:ext cx="1828800" cy="228600"/>
          </a:xfrm>
          <a:prstGeom prst="rect">
            <a:avLst/>
          </a:prstGeom>
          <a:noFill/>
          <a:ln/>
        </p:spPr>
        <p:txBody>
          <a:bodyPr wrap="square" lIns="0" tIns="0" rIns="0" bIns="0" rtlCol="0" anchor="t"/>
          <a:lstStyle/>
          <a:p>
            <a:pPr indent="0" marL="0">
              <a:buNone/>
            </a:pPr>
            <a:r>
              <a:rPr lang="en-US" sz="1100" dirty="0">
                <a:solidFill>
                  <a:schemeClr val="tx2"/>
                </a:solidFill>
              </a:rPr>
              <a:t>Xếp từ thấp đến cao</a:t>
            </a:r>
            <a:endParaRPr lang="en-US" sz="1100" dirty="0"/>
          </a:p>
        </p:txBody>
      </p:sp>
      <p:sp>
        <p:nvSpPr>
          <p:cNvPr id="12" name="Ô 5"/>
          <p:cNvSpPr/>
          <p:nvPr/>
        </p:nvSpPr>
        <p:spPr>
          <a:xfrm>
            <a:off x="548640" y="2852928"/>
            <a:ext cx="457200" cy="457200"/>
          </a:xfrm>
          <a:prstGeom prst="rect">
            <a:avLst/>
          </a:prstGeom>
          <a:solidFill>
            <a:schemeClr val="bg1"/>
          </a:solidFill>
          <a:ln w="9525">
            <a:solidFill>
              <a:srgbClr val="D1D5DB"/>
            </a:solidFill>
            <a:prstDash val="solid"/>
          </a:ln>
        </p:spPr>
      </p:sp>
      <p:sp>
        <p:nvSpPr>
          <p:cNvPr id="13" name="Text 11"/>
          <p:cNvSpPr txBox="1"/>
          <p:nvPr/>
        </p:nvSpPr>
        <p:spPr>
          <a:xfrm>
            <a:off x="548640" y="28529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5</a:t>
            </a:r>
            <a:endParaRPr lang="en-US" sz="1400" dirty="0"/>
          </a:p>
        </p:txBody>
      </p:sp>
      <p:sp>
        <p:nvSpPr>
          <p:cNvPr id="14" name="Ô 7"/>
          <p:cNvSpPr/>
          <p:nvPr/>
        </p:nvSpPr>
        <p:spPr>
          <a:xfrm>
            <a:off x="1097280" y="2852928"/>
            <a:ext cx="457200" cy="457200"/>
          </a:xfrm>
          <a:prstGeom prst="rect">
            <a:avLst/>
          </a:prstGeom>
          <a:solidFill>
            <a:schemeClr val="accent1"/>
          </a:solidFill>
          <a:ln w="9525">
            <a:solidFill>
              <a:srgbClr val="FFFFFF"/>
            </a:solidFill>
            <a:prstDash val="solid"/>
          </a:ln>
        </p:spPr>
      </p:sp>
      <p:sp>
        <p:nvSpPr>
          <p:cNvPr id="15" name="Text 13"/>
          <p:cNvSpPr txBox="1"/>
          <p:nvPr/>
        </p:nvSpPr>
        <p:spPr>
          <a:xfrm>
            <a:off x="1097280" y="28529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6" name="Ô 8"/>
          <p:cNvSpPr/>
          <p:nvPr/>
        </p:nvSpPr>
        <p:spPr>
          <a:xfrm>
            <a:off x="1645920" y="2852928"/>
            <a:ext cx="457200" cy="457200"/>
          </a:xfrm>
          <a:prstGeom prst="rect">
            <a:avLst/>
          </a:prstGeom>
          <a:solidFill>
            <a:schemeClr val="bg1"/>
          </a:solidFill>
          <a:ln w="9525">
            <a:solidFill>
              <a:srgbClr val="D1D5DB"/>
            </a:solidFill>
            <a:prstDash val="solid"/>
          </a:ln>
        </p:spPr>
      </p:sp>
      <p:sp>
        <p:nvSpPr>
          <p:cNvPr id="17" name="Text 15"/>
          <p:cNvSpPr txBox="1"/>
          <p:nvPr/>
        </p:nvSpPr>
        <p:spPr>
          <a:xfrm>
            <a:off x="1645920" y="28529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8</a:t>
            </a:r>
            <a:endParaRPr lang="en-US" sz="1400" dirty="0"/>
          </a:p>
        </p:txBody>
      </p:sp>
      <p:sp>
        <p:nvSpPr>
          <p:cNvPr id="18" name="Text 16"/>
          <p:cNvSpPr txBox="1"/>
          <p:nvPr/>
        </p:nvSpPr>
        <p:spPr>
          <a:xfrm>
            <a:off x="2331720" y="2852928"/>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Trung vị = 7</a:t>
            </a:r>
            <a:endParaRPr lang="en-US" sz="1600" dirty="0"/>
          </a:p>
        </p:txBody>
      </p:sp>
      <p:sp>
        <p:nvSpPr>
          <p:cNvPr id="19" name="Text 17"/>
          <p:cNvSpPr txBox="1"/>
          <p:nvPr/>
        </p:nvSpPr>
        <p:spPr>
          <a:xfrm>
            <a:off x="548640" y="3611880"/>
            <a:ext cx="3383280" cy="548640"/>
          </a:xfrm>
          <a:prstGeom prst="rect">
            <a:avLst/>
          </a:prstGeom>
          <a:noFill/>
          <a:ln/>
        </p:spPr>
        <p:txBody>
          <a:bodyPr wrap="square" lIns="0" tIns="0" rIns="0" bIns="0" rtlCol="0" anchor="t"/>
          <a:lstStyle/>
          <a:p>
            <a:pPr indent="0" marL="0">
              <a:buNone/>
            </a:pPr>
            <a:r>
              <a:rPr lang="en-US" sz="1300" dirty="0">
                <a:solidFill>
                  <a:schemeClr val="tx2"/>
                </a:solidFill>
              </a:rPr>
              <a:t>Một bài quá cao hoặc quá thấp không kéo lệch kết quả.</a:t>
            </a:r>
            <a:endParaRPr lang="en-US" sz="1300" dirty="0"/>
          </a:p>
        </p:txBody>
      </p:sp>
      <p:sp>
        <p:nvSpPr>
          <p:cNvPr id="20" name="Text 18"/>
          <p:cNvSpPr txBox="1"/>
          <p:nvPr/>
        </p:nvSpPr>
        <p:spPr>
          <a:xfrm>
            <a:off x="4663440" y="1188720"/>
            <a:ext cx="3931920" cy="320040"/>
          </a:xfrm>
          <a:prstGeom prst="rect">
            <a:avLst/>
          </a:prstGeom>
          <a:noFill/>
          <a:ln/>
        </p:spPr>
        <p:txBody>
          <a:bodyPr wrap="square" lIns="0" tIns="0" rIns="0" bIns="0" rtlCol="0" anchor="t"/>
          <a:lstStyle/>
          <a:p>
            <a:pPr indent="0" marL="0">
              <a:buNone/>
            </a:pPr>
            <a:r>
              <a:rPr lang="en-US" sz="1600" b="1" dirty="0">
                <a:solidFill>
                  <a:schemeClr val="tx1"/>
                </a:solidFill>
              </a:rPr>
              <a:t>5 bài: hai nhóm trùng nhau</a:t>
            </a:r>
            <a:endParaRPr lang="en-US" sz="1600" dirty="0"/>
          </a:p>
        </p:txBody>
      </p:sp>
      <p:sp>
        <p:nvSpPr>
          <p:cNvPr id="21" name="Text 19"/>
          <p:cNvSpPr txBox="1"/>
          <p:nvPr/>
        </p:nvSpPr>
        <p:spPr>
          <a:xfrm>
            <a:off x="4663440" y="1691640"/>
            <a:ext cx="3931920" cy="228600"/>
          </a:xfrm>
          <a:prstGeom prst="rect">
            <a:avLst/>
          </a:prstGeom>
          <a:noFill/>
          <a:ln/>
        </p:spPr>
        <p:txBody>
          <a:bodyPr wrap="square" lIns="0" tIns="0" rIns="0" bIns="0" rtlCol="0" anchor="t"/>
          <a:lstStyle/>
          <a:p>
            <a:pPr indent="0" marL="0">
              <a:buNone/>
            </a:pPr>
            <a:r>
              <a:rPr lang="en-US" sz="1100" dirty="0">
                <a:solidFill>
                  <a:schemeClr val="tx2"/>
                </a:solidFill>
              </a:rPr>
              <a:t>3 bài đầu: B1–B3     3 bài cuối: B3–B5</a:t>
            </a:r>
            <a:endParaRPr lang="en-US" sz="1100" dirty="0"/>
          </a:p>
        </p:txBody>
      </p:sp>
      <p:sp>
        <p:nvSpPr>
          <p:cNvPr id="22" name="Ô B1"/>
          <p:cNvSpPr/>
          <p:nvPr/>
        </p:nvSpPr>
        <p:spPr>
          <a:xfrm>
            <a:off x="4663440" y="1938528"/>
            <a:ext cx="457200" cy="457200"/>
          </a:xfrm>
          <a:prstGeom prst="rect">
            <a:avLst/>
          </a:prstGeom>
          <a:solidFill>
            <a:schemeClr val="accent2"/>
          </a:solidFill>
          <a:ln w="9525">
            <a:solidFill>
              <a:srgbClr val="FFFFFF"/>
            </a:solidFill>
            <a:prstDash val="solid"/>
          </a:ln>
        </p:spPr>
      </p:sp>
      <p:sp>
        <p:nvSpPr>
          <p:cNvPr id="23" name="Text 21"/>
          <p:cNvSpPr txBox="1"/>
          <p:nvPr/>
        </p:nvSpPr>
        <p:spPr>
          <a:xfrm>
            <a:off x="4663440" y="19385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B1</a:t>
            </a:r>
            <a:endParaRPr lang="en-US" sz="1400" dirty="0"/>
          </a:p>
        </p:txBody>
      </p:sp>
      <p:sp>
        <p:nvSpPr>
          <p:cNvPr id="24" name="Ô B2"/>
          <p:cNvSpPr/>
          <p:nvPr/>
        </p:nvSpPr>
        <p:spPr>
          <a:xfrm>
            <a:off x="5212080" y="1938528"/>
            <a:ext cx="457200" cy="457200"/>
          </a:xfrm>
          <a:prstGeom prst="rect">
            <a:avLst/>
          </a:prstGeom>
          <a:solidFill>
            <a:schemeClr val="accent2"/>
          </a:solidFill>
          <a:ln w="9525">
            <a:solidFill>
              <a:srgbClr val="FFFFFF"/>
            </a:solidFill>
            <a:prstDash val="solid"/>
          </a:ln>
        </p:spPr>
      </p:sp>
      <p:sp>
        <p:nvSpPr>
          <p:cNvPr id="25" name="Text 23"/>
          <p:cNvSpPr txBox="1"/>
          <p:nvPr/>
        </p:nvSpPr>
        <p:spPr>
          <a:xfrm>
            <a:off x="5212080" y="19385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B2</a:t>
            </a:r>
            <a:endParaRPr lang="en-US" sz="1400" dirty="0"/>
          </a:p>
        </p:txBody>
      </p:sp>
      <p:sp>
        <p:nvSpPr>
          <p:cNvPr id="26" name="Ô B3"/>
          <p:cNvSpPr/>
          <p:nvPr/>
        </p:nvSpPr>
        <p:spPr>
          <a:xfrm>
            <a:off x="5760720" y="1938528"/>
            <a:ext cx="457200" cy="457200"/>
          </a:xfrm>
          <a:prstGeom prst="rect">
            <a:avLst/>
          </a:prstGeom>
          <a:solidFill>
            <a:schemeClr val="accent1"/>
          </a:solidFill>
          <a:ln w="9525">
            <a:solidFill>
              <a:srgbClr val="FFFFFF"/>
            </a:solidFill>
            <a:prstDash val="solid"/>
          </a:ln>
        </p:spPr>
      </p:sp>
      <p:sp>
        <p:nvSpPr>
          <p:cNvPr id="27" name="Text 25"/>
          <p:cNvSpPr txBox="1"/>
          <p:nvPr/>
        </p:nvSpPr>
        <p:spPr>
          <a:xfrm>
            <a:off x="5760720" y="193852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B3</a:t>
            </a:r>
            <a:endParaRPr lang="en-US" sz="1400" dirty="0"/>
          </a:p>
        </p:txBody>
      </p:sp>
      <p:sp>
        <p:nvSpPr>
          <p:cNvPr id="28" name="Ô B4"/>
          <p:cNvSpPr/>
          <p:nvPr/>
        </p:nvSpPr>
        <p:spPr>
          <a:xfrm>
            <a:off x="6309360" y="1938528"/>
            <a:ext cx="457200" cy="457200"/>
          </a:xfrm>
          <a:prstGeom prst="rect">
            <a:avLst/>
          </a:prstGeom>
          <a:solidFill>
            <a:schemeClr val="bg2"/>
          </a:solidFill>
          <a:ln w="9525">
            <a:solidFill>
              <a:srgbClr val="FFFFFF"/>
            </a:solidFill>
            <a:prstDash val="solid"/>
          </a:ln>
        </p:spPr>
      </p:sp>
      <p:sp>
        <p:nvSpPr>
          <p:cNvPr id="29" name="Text 27"/>
          <p:cNvSpPr txBox="1"/>
          <p:nvPr/>
        </p:nvSpPr>
        <p:spPr>
          <a:xfrm>
            <a:off x="6309360" y="19385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B4</a:t>
            </a:r>
            <a:endParaRPr lang="en-US" sz="1400" dirty="0"/>
          </a:p>
        </p:txBody>
      </p:sp>
      <p:sp>
        <p:nvSpPr>
          <p:cNvPr id="30" name="Ô B5"/>
          <p:cNvSpPr/>
          <p:nvPr/>
        </p:nvSpPr>
        <p:spPr>
          <a:xfrm>
            <a:off x="6858000" y="1938528"/>
            <a:ext cx="457200" cy="457200"/>
          </a:xfrm>
          <a:prstGeom prst="rect">
            <a:avLst/>
          </a:prstGeom>
          <a:solidFill>
            <a:schemeClr val="bg2"/>
          </a:solidFill>
          <a:ln w="9525">
            <a:solidFill>
              <a:srgbClr val="FFFFFF"/>
            </a:solidFill>
            <a:prstDash val="solid"/>
          </a:ln>
        </p:spPr>
      </p:sp>
      <p:sp>
        <p:nvSpPr>
          <p:cNvPr id="31" name="Text 29"/>
          <p:cNvSpPr txBox="1"/>
          <p:nvPr/>
        </p:nvSpPr>
        <p:spPr>
          <a:xfrm>
            <a:off x="6858000" y="19385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B5</a:t>
            </a:r>
            <a:endParaRPr lang="en-US" sz="1400" dirty="0"/>
          </a:p>
        </p:txBody>
      </p:sp>
      <p:sp>
        <p:nvSpPr>
          <p:cNvPr id="32" name="Text 30"/>
          <p:cNvSpPr txBox="1"/>
          <p:nvPr/>
        </p:nvSpPr>
        <p:spPr>
          <a:xfrm>
            <a:off x="7498080" y="1938528"/>
            <a:ext cx="1097280" cy="457200"/>
          </a:xfrm>
          <a:prstGeom prst="rect">
            <a:avLst/>
          </a:prstGeom>
          <a:noFill/>
          <a:ln/>
        </p:spPr>
        <p:txBody>
          <a:bodyPr wrap="square" lIns="0" tIns="0" rIns="0" bIns="0" rtlCol="0" anchor="ctr"/>
          <a:lstStyle/>
          <a:p>
            <a:pPr indent="0" marL="0">
              <a:buNone/>
            </a:pPr>
            <a:r>
              <a:rPr lang="en-US" sz="1100" b="1" dirty="0">
                <a:solidFill>
                  <a:schemeClr val="accent1"/>
                </a:solidFill>
              </a:rPr>
              <a:t>B3 nằm ở cả hai nhóm</a:t>
            </a:r>
            <a:endParaRPr lang="en-US" sz="1100" dirty="0"/>
          </a:p>
        </p:txBody>
      </p:sp>
      <p:sp>
        <p:nvSpPr>
          <p:cNvPr id="33" name="Text 31"/>
          <p:cNvSpPr txBox="1"/>
          <p:nvPr/>
        </p:nvSpPr>
        <p:spPr>
          <a:xfrm>
            <a:off x="4663440" y="2606040"/>
            <a:ext cx="3931920" cy="228600"/>
          </a:xfrm>
          <a:prstGeom prst="rect">
            <a:avLst/>
          </a:prstGeom>
          <a:noFill/>
          <a:ln/>
        </p:spPr>
        <p:txBody>
          <a:bodyPr wrap="square" lIns="0" tIns="0" rIns="0" bIns="0" rtlCol="0" anchor="t"/>
          <a:lstStyle/>
          <a:p>
            <a:pPr indent="0" marL="0">
              <a:buNone/>
            </a:pPr>
            <a:r>
              <a:rPr lang="en-US" sz="1100" dirty="0">
                <a:solidFill>
                  <a:schemeClr val="tx2"/>
                </a:solidFill>
              </a:rPr>
              <a:t>6 bài: hai nhóm tách rời</a:t>
            </a:r>
            <a:endParaRPr lang="en-US" sz="1100" dirty="0"/>
          </a:p>
        </p:txBody>
      </p:sp>
      <p:sp>
        <p:nvSpPr>
          <p:cNvPr id="34" name="Ô B1"/>
          <p:cNvSpPr/>
          <p:nvPr/>
        </p:nvSpPr>
        <p:spPr>
          <a:xfrm>
            <a:off x="4663440" y="2852928"/>
            <a:ext cx="457200" cy="457200"/>
          </a:xfrm>
          <a:prstGeom prst="rect">
            <a:avLst/>
          </a:prstGeom>
          <a:solidFill>
            <a:schemeClr val="accent2"/>
          </a:solidFill>
          <a:ln w="9525">
            <a:solidFill>
              <a:srgbClr val="FFFFFF"/>
            </a:solidFill>
            <a:prstDash val="solid"/>
          </a:ln>
        </p:spPr>
      </p:sp>
      <p:sp>
        <p:nvSpPr>
          <p:cNvPr id="35" name="Text 33"/>
          <p:cNvSpPr txBox="1"/>
          <p:nvPr/>
        </p:nvSpPr>
        <p:spPr>
          <a:xfrm>
            <a:off x="4663440" y="28529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B1</a:t>
            </a:r>
            <a:endParaRPr lang="en-US" sz="1400" dirty="0"/>
          </a:p>
        </p:txBody>
      </p:sp>
      <p:sp>
        <p:nvSpPr>
          <p:cNvPr id="36" name="Ô B2"/>
          <p:cNvSpPr/>
          <p:nvPr/>
        </p:nvSpPr>
        <p:spPr>
          <a:xfrm>
            <a:off x="5212080" y="2852928"/>
            <a:ext cx="457200" cy="457200"/>
          </a:xfrm>
          <a:prstGeom prst="rect">
            <a:avLst/>
          </a:prstGeom>
          <a:solidFill>
            <a:schemeClr val="accent2"/>
          </a:solidFill>
          <a:ln w="9525">
            <a:solidFill>
              <a:srgbClr val="FFFFFF"/>
            </a:solidFill>
            <a:prstDash val="solid"/>
          </a:ln>
        </p:spPr>
      </p:sp>
      <p:sp>
        <p:nvSpPr>
          <p:cNvPr id="37" name="Text 35"/>
          <p:cNvSpPr txBox="1"/>
          <p:nvPr/>
        </p:nvSpPr>
        <p:spPr>
          <a:xfrm>
            <a:off x="5212080" y="28529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B2</a:t>
            </a:r>
            <a:endParaRPr lang="en-US" sz="1400" dirty="0"/>
          </a:p>
        </p:txBody>
      </p:sp>
      <p:sp>
        <p:nvSpPr>
          <p:cNvPr id="38" name="Ô B3"/>
          <p:cNvSpPr/>
          <p:nvPr/>
        </p:nvSpPr>
        <p:spPr>
          <a:xfrm>
            <a:off x="5760720" y="2852928"/>
            <a:ext cx="457200" cy="457200"/>
          </a:xfrm>
          <a:prstGeom prst="rect">
            <a:avLst/>
          </a:prstGeom>
          <a:solidFill>
            <a:schemeClr val="accent2"/>
          </a:solidFill>
          <a:ln w="9525">
            <a:solidFill>
              <a:srgbClr val="FFFFFF"/>
            </a:solidFill>
            <a:prstDash val="solid"/>
          </a:ln>
        </p:spPr>
      </p:sp>
      <p:sp>
        <p:nvSpPr>
          <p:cNvPr id="39" name="Text 37"/>
          <p:cNvSpPr txBox="1"/>
          <p:nvPr/>
        </p:nvSpPr>
        <p:spPr>
          <a:xfrm>
            <a:off x="5760720" y="28529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B3</a:t>
            </a:r>
            <a:endParaRPr lang="en-US" sz="1400" dirty="0"/>
          </a:p>
        </p:txBody>
      </p:sp>
      <p:sp>
        <p:nvSpPr>
          <p:cNvPr id="40" name="Ô B4"/>
          <p:cNvSpPr/>
          <p:nvPr/>
        </p:nvSpPr>
        <p:spPr>
          <a:xfrm>
            <a:off x="6309360" y="2852928"/>
            <a:ext cx="457200" cy="457200"/>
          </a:xfrm>
          <a:prstGeom prst="rect">
            <a:avLst/>
          </a:prstGeom>
          <a:solidFill>
            <a:schemeClr val="bg2"/>
          </a:solidFill>
          <a:ln w="9525">
            <a:solidFill>
              <a:srgbClr val="FFFFFF"/>
            </a:solidFill>
            <a:prstDash val="solid"/>
          </a:ln>
        </p:spPr>
      </p:sp>
      <p:sp>
        <p:nvSpPr>
          <p:cNvPr id="41" name="Text 39"/>
          <p:cNvSpPr txBox="1"/>
          <p:nvPr/>
        </p:nvSpPr>
        <p:spPr>
          <a:xfrm>
            <a:off x="6309360" y="28529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B4</a:t>
            </a:r>
            <a:endParaRPr lang="en-US" sz="1400" dirty="0"/>
          </a:p>
        </p:txBody>
      </p:sp>
      <p:sp>
        <p:nvSpPr>
          <p:cNvPr id="42" name="Ô B5"/>
          <p:cNvSpPr/>
          <p:nvPr/>
        </p:nvSpPr>
        <p:spPr>
          <a:xfrm>
            <a:off x="6858000" y="2852928"/>
            <a:ext cx="457200" cy="457200"/>
          </a:xfrm>
          <a:prstGeom prst="rect">
            <a:avLst/>
          </a:prstGeom>
          <a:solidFill>
            <a:schemeClr val="bg2"/>
          </a:solidFill>
          <a:ln w="9525">
            <a:solidFill>
              <a:srgbClr val="FFFFFF"/>
            </a:solidFill>
            <a:prstDash val="solid"/>
          </a:ln>
        </p:spPr>
      </p:sp>
      <p:sp>
        <p:nvSpPr>
          <p:cNvPr id="43" name="Text 41"/>
          <p:cNvSpPr txBox="1"/>
          <p:nvPr/>
        </p:nvSpPr>
        <p:spPr>
          <a:xfrm>
            <a:off x="6858000" y="28529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B5</a:t>
            </a:r>
            <a:endParaRPr lang="en-US" sz="1400" dirty="0"/>
          </a:p>
        </p:txBody>
      </p:sp>
      <p:sp>
        <p:nvSpPr>
          <p:cNvPr id="44" name="Ô B6"/>
          <p:cNvSpPr/>
          <p:nvPr/>
        </p:nvSpPr>
        <p:spPr>
          <a:xfrm>
            <a:off x="7406640" y="2852928"/>
            <a:ext cx="457200" cy="457200"/>
          </a:xfrm>
          <a:prstGeom prst="rect">
            <a:avLst/>
          </a:prstGeom>
          <a:solidFill>
            <a:schemeClr val="bg2"/>
          </a:solidFill>
          <a:ln w="9525">
            <a:solidFill>
              <a:srgbClr val="FFFFFF"/>
            </a:solidFill>
            <a:prstDash val="solid"/>
          </a:ln>
        </p:spPr>
      </p:sp>
      <p:sp>
        <p:nvSpPr>
          <p:cNvPr id="45" name="Text 43"/>
          <p:cNvSpPr txBox="1"/>
          <p:nvPr/>
        </p:nvSpPr>
        <p:spPr>
          <a:xfrm>
            <a:off x="7406640" y="2852928"/>
            <a:ext cx="457200" cy="457200"/>
          </a:xfrm>
          <a:prstGeom prst="rect">
            <a:avLst/>
          </a:prstGeom>
          <a:noFill/>
          <a:ln/>
        </p:spPr>
        <p:txBody>
          <a:bodyPr wrap="square" lIns="0" tIns="0" rIns="0" bIns="0" rtlCol="0" anchor="ctr"/>
          <a:lstStyle/>
          <a:p>
            <a:pPr algn="ctr" indent="0" marL="0">
              <a:buNone/>
            </a:pPr>
            <a:r>
              <a:rPr lang="en-US" sz="1400" dirty="0">
                <a:solidFill>
                  <a:schemeClr val="tx1"/>
                </a:solidFill>
              </a:rPr>
              <a:t>B6</a:t>
            </a:r>
            <a:endParaRPr lang="en-US" sz="1400" dirty="0"/>
          </a:p>
        </p:txBody>
      </p:sp>
      <p:sp>
        <p:nvSpPr>
          <p:cNvPr id="46" name="Text 44"/>
          <p:cNvSpPr txBox="1"/>
          <p:nvPr/>
        </p:nvSpPr>
        <p:spPr>
          <a:xfrm>
            <a:off x="4663440" y="3611880"/>
            <a:ext cx="3931920" cy="548640"/>
          </a:xfrm>
          <a:prstGeom prst="rect">
            <a:avLst/>
          </a:prstGeom>
          <a:noFill/>
          <a:ln/>
        </p:spPr>
        <p:txBody>
          <a:bodyPr wrap="square" lIns="0" tIns="0" rIns="0" bIns="0" rtlCol="0" anchor="t"/>
          <a:lstStyle/>
          <a:p>
            <a:pPr indent="0" marL="0">
              <a:buNone/>
            </a:pPr>
            <a:r>
              <a:rPr lang="en-US" sz="1300" dirty="0">
                <a:solidFill>
                  <a:schemeClr val="tx2"/>
                </a:solidFill>
              </a:rPr>
              <a:t>Khi hai nhóm trùng bài, so sánh không còn công bằng, nên 4–5 bài dùng cách so bài cuối.</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Bốn trạng thái</a:t>
            </a:r>
            <a:endParaRPr lang="en-US" sz="2800" dirty="0"/>
          </a:p>
        </p:txBody>
      </p:sp>
      <p:sp>
        <p:nvSpPr>
          <p:cNvPr id="3" name="Text 1"/>
          <p:cNvSpPr txBox="1"/>
          <p:nvPr/>
        </p:nvSpPr>
        <p:spPr>
          <a:xfrm>
            <a:off x="548640" y="1143000"/>
            <a:ext cx="1828800" cy="320040"/>
          </a:xfrm>
          <a:prstGeom prst="rect">
            <a:avLst/>
          </a:prstGeom>
          <a:noFill/>
          <a:ln/>
        </p:spPr>
        <p:txBody>
          <a:bodyPr wrap="square" lIns="0" tIns="0" rIns="0" bIns="0" rtlCol="0" anchor="t"/>
          <a:lstStyle/>
          <a:p>
            <a:pPr indent="0" marL="0">
              <a:buNone/>
            </a:pPr>
            <a:r>
              <a:rPr lang="en-US" sz="1700" b="1" dirty="0">
                <a:solidFill>
                  <a:schemeClr val="tx1"/>
                </a:solidFill>
              </a:rPr>
              <a:t>Không ổn định</a:t>
            </a:r>
            <a:endParaRPr lang="en-US" sz="1700" dirty="0"/>
          </a:p>
        </p:txBody>
      </p:sp>
      <p:graphicFrame>
        <p:nvGraphicFramePr>
          <p:cNvPr id="4" name="Biểu đồ Không ổn định" descr=""/>
          <p:cNvGraphicFramePr/>
          <p:nvPr/>
        </p:nvGraphicFramePr>
        <p:xfrm>
          <a:off x="502920" y="1508760"/>
          <a:ext cx="1920240" cy="1234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2834640"/>
            <a:ext cx="1828800" cy="777240"/>
          </a:xfrm>
          <a:prstGeom prst="rect">
            <a:avLst/>
          </a:prstGeom>
          <a:noFill/>
          <a:ln/>
        </p:spPr>
        <p:txBody>
          <a:bodyPr wrap="square" lIns="0" tIns="0" rIns="0" bIns="0" rtlCol="0" anchor="t"/>
          <a:lstStyle/>
          <a:p>
            <a:pPr indent="0" marL="0">
              <a:buNone/>
            </a:pPr>
            <a:r>
              <a:rPr lang="en-US" sz="1200" dirty="0">
                <a:solidFill>
                  <a:schemeClr val="tx2"/>
                </a:solidFill>
              </a:rPr>
              <a:t>Giảm ≥ 1.5 rồi tăng ≥ 1.5 (hoặc ngược lại) trong 4 bài gần nhất</a:t>
            </a:r>
            <a:endParaRPr lang="en-US" sz="1200" dirty="0"/>
          </a:p>
        </p:txBody>
      </p:sp>
      <p:sp>
        <p:nvSpPr>
          <p:cNvPr id="6" name="Text 3"/>
          <p:cNvSpPr txBox="1"/>
          <p:nvPr/>
        </p:nvSpPr>
        <p:spPr>
          <a:xfrm>
            <a:off x="548640" y="3611880"/>
            <a:ext cx="1828800" cy="274320"/>
          </a:xfrm>
          <a:prstGeom prst="rect">
            <a:avLst/>
          </a:prstGeom>
          <a:noFill/>
          <a:ln/>
        </p:spPr>
        <p:txBody>
          <a:bodyPr wrap="square" lIns="0" tIns="0" rIns="0" bIns="0" rtlCol="0" anchor="t"/>
          <a:lstStyle/>
          <a:p>
            <a:pPr indent="0" marL="0">
              <a:buNone/>
            </a:pPr>
            <a:r>
              <a:rPr lang="en-US" sz="1200" b="1" dirty="0">
                <a:solidFill>
                  <a:schemeClr val="tx1"/>
                </a:solidFill>
              </a:rPr>
              <a:t>8.0 → 6.2 → 7.0 → 8.1</a:t>
            </a:r>
            <a:endParaRPr lang="en-US" sz="1200" dirty="0"/>
          </a:p>
        </p:txBody>
      </p:sp>
      <p:sp>
        <p:nvSpPr>
          <p:cNvPr id="7" name="Text 4"/>
          <p:cNvSpPr txBox="1"/>
          <p:nvPr/>
        </p:nvSpPr>
        <p:spPr>
          <a:xfrm>
            <a:off x="2621585" y="1143000"/>
            <a:ext cx="1828800" cy="320040"/>
          </a:xfrm>
          <a:prstGeom prst="rect">
            <a:avLst/>
          </a:prstGeom>
          <a:noFill/>
          <a:ln/>
        </p:spPr>
        <p:txBody>
          <a:bodyPr wrap="square" lIns="0" tIns="0" rIns="0" bIns="0" rtlCol="0" anchor="t"/>
          <a:lstStyle/>
          <a:p>
            <a:pPr indent="0" marL="0">
              <a:buNone/>
            </a:pPr>
            <a:r>
              <a:rPr lang="en-US" sz="1700" b="1" dirty="0">
                <a:solidFill>
                  <a:schemeClr val="tx1"/>
                </a:solidFill>
              </a:rPr>
              <a:t>Thụt lùi</a:t>
            </a:r>
            <a:endParaRPr lang="en-US" sz="1700" dirty="0"/>
          </a:p>
        </p:txBody>
      </p:sp>
      <p:graphicFrame>
        <p:nvGraphicFramePr>
          <p:cNvPr id="8" name="Biểu đồ Thụt lùi" descr=""/>
          <p:cNvGraphicFramePr/>
          <p:nvPr/>
        </p:nvGraphicFramePr>
        <p:xfrm>
          <a:off x="2575865" y="1508760"/>
          <a:ext cx="1920240" cy="123444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2621585" y="2834640"/>
            <a:ext cx="1828800" cy="777240"/>
          </a:xfrm>
          <a:prstGeom prst="rect">
            <a:avLst/>
          </a:prstGeom>
          <a:noFill/>
          <a:ln/>
        </p:spPr>
        <p:txBody>
          <a:bodyPr wrap="square" lIns="0" tIns="0" rIns="0" bIns="0" rtlCol="0" anchor="t"/>
          <a:lstStyle/>
          <a:p>
            <a:pPr indent="0" marL="0">
              <a:buNone/>
            </a:pPr>
            <a:r>
              <a:rPr lang="en-US" sz="1200" dirty="0">
                <a:solidFill>
                  <a:schemeClr val="tx2"/>
                </a:solidFill>
              </a:rPr>
              <a:t>Trung vị 3 bài cuối thấp hơn 3 bài đầu &gt; 1.0</a:t>
            </a:r>
            <a:endParaRPr lang="en-US" sz="1200" dirty="0"/>
          </a:p>
        </p:txBody>
      </p:sp>
      <p:sp>
        <p:nvSpPr>
          <p:cNvPr id="10" name="Text 6"/>
          <p:cNvSpPr txBox="1"/>
          <p:nvPr/>
        </p:nvSpPr>
        <p:spPr>
          <a:xfrm>
            <a:off x="2621585" y="3611880"/>
            <a:ext cx="1828800" cy="274320"/>
          </a:xfrm>
          <a:prstGeom prst="rect">
            <a:avLst/>
          </a:prstGeom>
          <a:noFill/>
          <a:ln/>
        </p:spPr>
        <p:txBody>
          <a:bodyPr wrap="square" lIns="0" tIns="0" rIns="0" bIns="0" rtlCol="0" anchor="t"/>
          <a:lstStyle/>
          <a:p>
            <a:pPr indent="0" marL="0">
              <a:buNone/>
            </a:pPr>
            <a:r>
              <a:rPr lang="en-US" sz="1200" b="1" dirty="0">
                <a:solidFill>
                  <a:schemeClr val="tx1"/>
                </a:solidFill>
              </a:rPr>
              <a:t>Trung vị 8.1 → 6.5</a:t>
            </a:r>
            <a:endParaRPr lang="en-US" sz="1200" dirty="0"/>
          </a:p>
        </p:txBody>
      </p:sp>
      <p:sp>
        <p:nvSpPr>
          <p:cNvPr id="11" name="Text 7"/>
          <p:cNvSpPr txBox="1"/>
          <p:nvPr/>
        </p:nvSpPr>
        <p:spPr>
          <a:xfrm>
            <a:off x="4694530" y="1143000"/>
            <a:ext cx="1828800" cy="320040"/>
          </a:xfrm>
          <a:prstGeom prst="rect">
            <a:avLst/>
          </a:prstGeom>
          <a:noFill/>
          <a:ln/>
        </p:spPr>
        <p:txBody>
          <a:bodyPr wrap="square" lIns="0" tIns="0" rIns="0" bIns="0" rtlCol="0" anchor="t"/>
          <a:lstStyle/>
          <a:p>
            <a:pPr indent="0" marL="0">
              <a:buNone/>
            </a:pPr>
            <a:r>
              <a:rPr lang="en-US" sz="1700" b="1" dirty="0">
                <a:solidFill>
                  <a:schemeClr val="tx1"/>
                </a:solidFill>
              </a:rPr>
              <a:t>Tiến bộ</a:t>
            </a:r>
            <a:endParaRPr lang="en-US" sz="1700" dirty="0"/>
          </a:p>
        </p:txBody>
      </p:sp>
      <p:graphicFrame>
        <p:nvGraphicFramePr>
          <p:cNvPr id="12" name="Biểu đồ Tiến bộ" descr=""/>
          <p:cNvGraphicFramePr/>
          <p:nvPr/>
        </p:nvGraphicFramePr>
        <p:xfrm>
          <a:off x="4648810" y="1508760"/>
          <a:ext cx="1920240" cy="1234440"/>
        </p:xfrm>
        <a:graphic xmlns:a="http://schemas.openxmlformats.org/drawingml/2006/main">
          <a:graphicData uri="http://schemas.openxmlformats.org/drawingml/2006/chart">
            <c:chart xmlns:c="http://schemas.openxmlformats.org/drawingml/2006/chart" r:id="rId3"/>
          </a:graphicData>
        </a:graphic>
      </p:graphicFrame>
      <p:sp>
        <p:nvSpPr>
          <p:cNvPr id="13" name="Text 8"/>
          <p:cNvSpPr txBox="1"/>
          <p:nvPr/>
        </p:nvSpPr>
        <p:spPr>
          <a:xfrm>
            <a:off x="4694530" y="2834640"/>
            <a:ext cx="1828800" cy="777240"/>
          </a:xfrm>
          <a:prstGeom prst="rect">
            <a:avLst/>
          </a:prstGeom>
          <a:noFill/>
          <a:ln/>
        </p:spPr>
        <p:txBody>
          <a:bodyPr wrap="square" lIns="0" tIns="0" rIns="0" bIns="0" rtlCol="0" anchor="t"/>
          <a:lstStyle/>
          <a:p>
            <a:pPr indent="0" marL="0">
              <a:buNone/>
            </a:pPr>
            <a:r>
              <a:rPr lang="en-US" sz="1200" dirty="0">
                <a:solidFill>
                  <a:schemeClr val="tx2"/>
                </a:solidFill>
              </a:rPr>
              <a:t>Trung vị 3 bài cuối cao hơn 3 bài đầu &gt; 1.0</a:t>
            </a:r>
            <a:endParaRPr lang="en-US" sz="1200" dirty="0"/>
          </a:p>
        </p:txBody>
      </p:sp>
      <p:sp>
        <p:nvSpPr>
          <p:cNvPr id="14" name="Text 9"/>
          <p:cNvSpPr txBox="1"/>
          <p:nvPr/>
        </p:nvSpPr>
        <p:spPr>
          <a:xfrm>
            <a:off x="4694530" y="3611880"/>
            <a:ext cx="1828800" cy="274320"/>
          </a:xfrm>
          <a:prstGeom prst="rect">
            <a:avLst/>
          </a:prstGeom>
          <a:noFill/>
          <a:ln/>
        </p:spPr>
        <p:txBody>
          <a:bodyPr wrap="square" lIns="0" tIns="0" rIns="0" bIns="0" rtlCol="0" anchor="t"/>
          <a:lstStyle/>
          <a:p>
            <a:pPr indent="0" marL="0">
              <a:buNone/>
            </a:pPr>
            <a:r>
              <a:rPr lang="en-US" sz="1200" b="1" dirty="0">
                <a:solidFill>
                  <a:schemeClr val="tx1"/>
                </a:solidFill>
              </a:rPr>
              <a:t>Trung vị 5.2 → 7.0</a:t>
            </a:r>
            <a:endParaRPr lang="en-US" sz="1200" dirty="0"/>
          </a:p>
        </p:txBody>
      </p:sp>
      <p:sp>
        <p:nvSpPr>
          <p:cNvPr id="15" name="Text 10"/>
          <p:cNvSpPr txBox="1"/>
          <p:nvPr/>
        </p:nvSpPr>
        <p:spPr>
          <a:xfrm>
            <a:off x="6767474" y="1143000"/>
            <a:ext cx="1828800" cy="320040"/>
          </a:xfrm>
          <a:prstGeom prst="rect">
            <a:avLst/>
          </a:prstGeom>
          <a:noFill/>
          <a:ln/>
        </p:spPr>
        <p:txBody>
          <a:bodyPr wrap="square" lIns="0" tIns="0" rIns="0" bIns="0" rtlCol="0" anchor="t"/>
          <a:lstStyle/>
          <a:p>
            <a:pPr indent="0" marL="0">
              <a:buNone/>
            </a:pPr>
            <a:r>
              <a:rPr lang="en-US" sz="1700" b="1" dirty="0">
                <a:solidFill>
                  <a:schemeClr val="tx1"/>
                </a:solidFill>
              </a:rPr>
              <a:t>Cân bằng</a:t>
            </a:r>
            <a:endParaRPr lang="en-US" sz="1700" dirty="0"/>
          </a:p>
        </p:txBody>
      </p:sp>
      <p:graphicFrame>
        <p:nvGraphicFramePr>
          <p:cNvPr id="16" name="Biểu đồ Cân bằng" descr=""/>
          <p:cNvGraphicFramePr/>
          <p:nvPr/>
        </p:nvGraphicFramePr>
        <p:xfrm>
          <a:off x="6721754" y="1508760"/>
          <a:ext cx="1920240" cy="1234440"/>
        </p:xfrm>
        <a:graphic xmlns:a="http://schemas.openxmlformats.org/drawingml/2006/main">
          <a:graphicData uri="http://schemas.openxmlformats.org/drawingml/2006/chart">
            <c:chart xmlns:c="http://schemas.openxmlformats.org/drawingml/2006/chart" r:id="rId4"/>
          </a:graphicData>
        </a:graphic>
      </p:graphicFrame>
      <p:sp>
        <p:nvSpPr>
          <p:cNvPr id="17" name="Text 11"/>
          <p:cNvSpPr txBox="1"/>
          <p:nvPr/>
        </p:nvSpPr>
        <p:spPr>
          <a:xfrm>
            <a:off x="6767474" y="2834640"/>
            <a:ext cx="1828800" cy="777240"/>
          </a:xfrm>
          <a:prstGeom prst="rect">
            <a:avLst/>
          </a:prstGeom>
          <a:noFill/>
          <a:ln/>
        </p:spPr>
        <p:txBody>
          <a:bodyPr wrap="square" lIns="0" tIns="0" rIns="0" bIns="0" rtlCol="0" anchor="t"/>
          <a:lstStyle/>
          <a:p>
            <a:pPr indent="0" marL="0">
              <a:buNone/>
            </a:pPr>
            <a:r>
              <a:rPr lang="en-US" sz="1200" dirty="0">
                <a:solidFill>
                  <a:schemeClr val="tx2"/>
                </a:solidFill>
              </a:rPr>
              <a:t>Không đạt ngưỡng nào ở trên</a:t>
            </a:r>
            <a:endParaRPr lang="en-US" sz="1200" dirty="0"/>
          </a:p>
        </p:txBody>
      </p:sp>
      <p:sp>
        <p:nvSpPr>
          <p:cNvPr id="18" name="Text 12"/>
          <p:cNvSpPr txBox="1"/>
          <p:nvPr/>
        </p:nvSpPr>
        <p:spPr>
          <a:xfrm>
            <a:off x="6767474" y="3611880"/>
            <a:ext cx="1828800" cy="274320"/>
          </a:xfrm>
          <a:prstGeom prst="rect">
            <a:avLst/>
          </a:prstGeom>
          <a:noFill/>
          <a:ln/>
        </p:spPr>
        <p:txBody>
          <a:bodyPr wrap="square" lIns="0" tIns="0" rIns="0" bIns="0" rtlCol="0" anchor="t"/>
          <a:lstStyle/>
          <a:p>
            <a:pPr indent="0" marL="0">
              <a:buNone/>
            </a:pPr>
            <a:r>
              <a:rPr lang="en-US" sz="1200" b="1" dirty="0">
                <a:solidFill>
                  <a:schemeClr val="tx1"/>
                </a:solidFill>
              </a:rPr>
              <a:t>Trung vị 7.0 → 7.3</a:t>
            </a:r>
            <a:endParaRPr lang="en-US" sz="1200" dirty="0"/>
          </a:p>
        </p:txBody>
      </p:sp>
      <p:sp>
        <p:nvSpPr>
          <p:cNvPr id="19" name="Text 13"/>
          <p:cNvSpPr txBox="1"/>
          <p:nvPr/>
        </p:nvSpPr>
        <p:spPr>
          <a:xfrm>
            <a:off x="548640" y="4160520"/>
            <a:ext cx="8046720" cy="320040"/>
          </a:xfrm>
          <a:prstGeom prst="rect">
            <a:avLst/>
          </a:prstGeom>
          <a:noFill/>
          <a:ln/>
        </p:spPr>
        <p:txBody>
          <a:bodyPr wrap="square" lIns="0" tIns="0" rIns="0" bIns="0" rtlCol="0" anchor="t"/>
          <a:lstStyle/>
          <a:p>
            <a:pPr indent="0" marL="0">
              <a:buNone/>
            </a:pPr>
            <a:r>
              <a:rPr lang="en-US" sz="1300" dirty="0">
                <a:solidFill>
                  <a:schemeClr val="tx1"/>
                </a:solidFill>
              </a:rPr>
              <a:t>Dưới 4 bài: Chưa đủ dữ liệu. Không ổn định và Thụt lùi kéo theo cảnh báo tối thiểu Vàng.</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Thứ tự kiểm tra</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1737360"/>
                <a:gridCol w="2880360"/>
                <a:gridCol w="3429000"/>
              </a:tblGrid>
              <a:tr h="365760">
                <a:tc>
                  <a:txBody>
                    <a:bodyPr/>
                    <a:lstStyle/>
                    <a:p>
                      <a:pPr indent="0" marL="0">
                        <a:buNone/>
                      </a:pPr>
                      <a:r>
                        <a:rPr lang="en-US" sz="1200" b="1" dirty="0">
                          <a:solidFill>
                            <a:schemeClr val="tx2"/>
                          </a:solidFill>
                        </a:rPr>
                        <a:t>Bước</a:t>
                      </a:r>
                      <a:endParaRPr lang="en-US" sz="12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c>
                  <a:txBody>
                    <a:bodyPr/>
                    <a:lstStyle/>
                    <a:p>
                      <a:pPr indent="0" marL="0">
                        <a:buNone/>
                      </a:pPr>
                      <a:r>
                        <a:rPr lang="en-US" sz="1200" b="1" dirty="0">
                          <a:solidFill>
                            <a:schemeClr val="tx2"/>
                          </a:solidFill>
                        </a:rPr>
                        <a:t>4–5 bài, hoặc "4 bài gần nhất"</a:t>
                      </a:r>
                      <a:endParaRPr lang="en-US" sz="12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c>
                  <a:txBody>
                    <a:bodyPr/>
                    <a:lstStyle/>
                    <a:p>
                      <a:pPr indent="0" marL="0">
                        <a:buNone/>
                      </a:pPr>
                      <a:r>
                        <a:rPr lang="en-US" sz="1200" b="1" dirty="0">
                          <a:solidFill>
                            <a:schemeClr val="tx2"/>
                          </a:solidFill>
                        </a:rPr>
                        <a:t>Từ 6 bài</a:t>
                      </a:r>
                      <a:endParaRPr lang="en-US" sz="12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r>
              <a:tr h="566928">
                <a:tc>
                  <a:txBody>
                    <a:bodyPr/>
                    <a:lstStyle/>
                    <a:p>
                      <a:pPr indent="0" marL="0">
                        <a:buNone/>
                      </a:pPr>
                      <a:r>
                        <a:rPr lang="en-US" sz="1300" b="1" dirty="0">
                          <a:solidFill>
                            <a:schemeClr val="tx1"/>
                          </a:solidFill>
                        </a:rPr>
                        <a:t>1. Không ổn định</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Trong 4 bài gần nhất: giảm ≥ 1.5 rồi tăng ≥ 1.5, hoặc ngược lại</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Giống bên trái</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566928">
                <a:tc>
                  <a:txBody>
                    <a:bodyPr/>
                    <a:lstStyle/>
                    <a:p>
                      <a:pPr indent="0" marL="0">
                        <a:buNone/>
                      </a:pPr>
                      <a:r>
                        <a:rPr lang="en-US" sz="1300" b="1" dirty="0">
                          <a:solidFill>
                            <a:schemeClr val="tx1"/>
                          </a:solidFill>
                        </a:rPr>
                        <a:t>2. Thụt lùi</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Bài cuối thấp hơn điểm cao nhất trước đó &gt; 1.5</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Trung vị 3 bài cuối thấp hơn 3 bài đầu &gt; 1.0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566928">
                <a:tc>
                  <a:txBody>
                    <a:bodyPr/>
                    <a:lstStyle/>
                    <a:p>
                      <a:pPr indent="0" marL="0">
                        <a:buNone/>
                      </a:pPr>
                      <a:r>
                        <a:rPr lang="en-US" sz="1300" b="1" dirty="0">
                          <a:solidFill>
                            <a:schemeClr val="tx1"/>
                          </a:solidFill>
                        </a:rPr>
                        <a:t>3. Tiến bộ</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Bài cuối cao hơn điểm thấp nhất trước đó &gt; 1.5</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Trung vị 3 bài cuối cao hơn 3 bài đầu &gt; 1.0</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457200">
                <a:tc>
                  <a:txBody>
                    <a:bodyPr/>
                    <a:lstStyle/>
                    <a:p>
                      <a:pPr indent="0" marL="0">
                        <a:buNone/>
                      </a:pPr>
                      <a:r>
                        <a:rPr lang="en-US" sz="1300" b="1" dirty="0">
                          <a:solidFill>
                            <a:schemeClr val="tx1"/>
                          </a:solidFill>
                        </a:rPr>
                        <a:t>4. Cân bằng</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Không đạt bước nào ở trên</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Không đạt bước nào ở trên</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bl>
          </a:graphicData>
        </a:graphic>
      </p:graphicFrame>
      <p:sp>
        <p:nvSpPr>
          <p:cNvPr id="4" name="Text 1"/>
          <p:cNvSpPr txBox="1"/>
          <p:nvPr/>
        </p:nvSpPr>
        <p:spPr>
          <a:xfrm>
            <a:off x="548640" y="4114800"/>
            <a:ext cx="8046720" cy="320040"/>
          </a:xfrm>
          <a:prstGeom prst="rect">
            <a:avLst/>
          </a:prstGeom>
          <a:noFill/>
          <a:ln/>
        </p:spPr>
        <p:txBody>
          <a:bodyPr wrap="square" lIns="0" tIns="0" rIns="0" bIns="0" rtlCol="0" anchor="t"/>
          <a:lstStyle/>
          <a:p>
            <a:pPr indent="0" marL="0">
              <a:buNone/>
            </a:pPr>
            <a:r>
              <a:rPr lang="en-US" sz="1300" dirty="0">
                <a:solidFill>
                  <a:schemeClr val="tx1"/>
                </a:solidFill>
              </a:rPr>
              <a:t>Đạt bước nào thì dừng ở bước đó. Kết quả luôn tính lại từ điểm, không dựa vào nhãn cũ.</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Màn hình 1: Danh sách lớp</a:t>
            </a:r>
            <a:endParaRPr lang="en-US" sz="2800" dirty="0"/>
          </a:p>
        </p:txBody>
      </p:sp>
      <p:sp>
        <p:nvSpPr>
          <p:cNvPr id="3" name="Nút 4 bài gần nhất"/>
          <p:cNvSpPr/>
          <p:nvPr/>
        </p:nvSpPr>
        <p:spPr>
          <a:xfrm>
            <a:off x="548640" y="1051560"/>
            <a:ext cx="1289304" cy="292608"/>
          </a:xfrm>
          <a:prstGeom prst="roundRect">
            <a:avLst>
              <a:gd name="adj" fmla="val 50000"/>
            </a:avLst>
          </a:prstGeom>
          <a:solidFill>
            <a:schemeClr val="bg1"/>
          </a:solidFill>
          <a:ln w="9525">
            <a:solidFill>
              <a:srgbClr val="D1D5DB"/>
            </a:solidFill>
            <a:prstDash val="solid"/>
          </a:ln>
        </p:spPr>
      </p:sp>
      <p:sp>
        <p:nvSpPr>
          <p:cNvPr id="4" name="Text 2"/>
          <p:cNvSpPr txBox="1"/>
          <p:nvPr/>
        </p:nvSpPr>
        <p:spPr>
          <a:xfrm>
            <a:off x="548640" y="1051560"/>
            <a:ext cx="1289304" cy="292608"/>
          </a:xfrm>
          <a:prstGeom prst="rect">
            <a:avLst/>
          </a:prstGeom>
          <a:noFill/>
          <a:ln/>
        </p:spPr>
        <p:txBody>
          <a:bodyPr wrap="square" lIns="0" tIns="0" rIns="0" bIns="0" rtlCol="0" anchor="ctr"/>
          <a:lstStyle/>
          <a:p>
            <a:pPr algn="ctr" indent="0" marL="0">
              <a:buNone/>
            </a:pPr>
            <a:r>
              <a:rPr lang="en-US" sz="1100" dirty="0">
                <a:solidFill>
                  <a:schemeClr val="tx1"/>
                </a:solidFill>
              </a:rPr>
              <a:t>4 bài gần nhất</a:t>
            </a:r>
            <a:endParaRPr lang="en-US" sz="1100" dirty="0"/>
          </a:p>
        </p:txBody>
      </p:sp>
      <p:sp>
        <p:nvSpPr>
          <p:cNvPr id="5" name="Nút Tháng"/>
          <p:cNvSpPr/>
          <p:nvPr/>
        </p:nvSpPr>
        <p:spPr>
          <a:xfrm>
            <a:off x="1929384" y="1051560"/>
            <a:ext cx="589788" cy="292608"/>
          </a:xfrm>
          <a:prstGeom prst="roundRect">
            <a:avLst>
              <a:gd name="adj" fmla="val 50000"/>
            </a:avLst>
          </a:prstGeom>
          <a:solidFill>
            <a:schemeClr val="bg1"/>
          </a:solidFill>
          <a:ln w="9525">
            <a:solidFill>
              <a:srgbClr val="D1D5DB"/>
            </a:solidFill>
            <a:prstDash val="solid"/>
          </a:ln>
        </p:spPr>
      </p:sp>
      <p:sp>
        <p:nvSpPr>
          <p:cNvPr id="6" name="Text 4"/>
          <p:cNvSpPr txBox="1"/>
          <p:nvPr/>
        </p:nvSpPr>
        <p:spPr>
          <a:xfrm>
            <a:off x="1929384" y="1051560"/>
            <a:ext cx="589788" cy="292608"/>
          </a:xfrm>
          <a:prstGeom prst="rect">
            <a:avLst/>
          </a:prstGeom>
          <a:noFill/>
          <a:ln/>
        </p:spPr>
        <p:txBody>
          <a:bodyPr wrap="square" lIns="0" tIns="0" rIns="0" bIns="0" rtlCol="0" anchor="ctr"/>
          <a:lstStyle/>
          <a:p>
            <a:pPr algn="ctr" indent="0" marL="0">
              <a:buNone/>
            </a:pPr>
            <a:r>
              <a:rPr lang="en-US" sz="1100" dirty="0">
                <a:solidFill>
                  <a:schemeClr val="tx1"/>
                </a:solidFill>
              </a:rPr>
              <a:t>Tháng</a:t>
            </a:r>
            <a:endParaRPr lang="en-US" sz="1100" dirty="0"/>
          </a:p>
        </p:txBody>
      </p:sp>
      <p:sp>
        <p:nvSpPr>
          <p:cNvPr id="7" name="Nút Chu kỳ"/>
          <p:cNvSpPr/>
          <p:nvPr/>
        </p:nvSpPr>
        <p:spPr>
          <a:xfrm>
            <a:off x="2610612" y="1051560"/>
            <a:ext cx="667512" cy="292608"/>
          </a:xfrm>
          <a:prstGeom prst="roundRect">
            <a:avLst>
              <a:gd name="adj" fmla="val 50000"/>
            </a:avLst>
          </a:prstGeom>
          <a:solidFill>
            <a:schemeClr val="accent1"/>
          </a:solidFill>
          <a:ln w="9525">
            <a:solidFill>
              <a:srgbClr val="0F766E"/>
            </a:solidFill>
            <a:prstDash val="solid"/>
          </a:ln>
        </p:spPr>
      </p:sp>
      <p:sp>
        <p:nvSpPr>
          <p:cNvPr id="8" name="Text 6"/>
          <p:cNvSpPr txBox="1"/>
          <p:nvPr/>
        </p:nvSpPr>
        <p:spPr>
          <a:xfrm>
            <a:off x="2610612" y="1051560"/>
            <a:ext cx="667512" cy="292608"/>
          </a:xfrm>
          <a:prstGeom prst="rect">
            <a:avLst/>
          </a:prstGeom>
          <a:noFill/>
          <a:ln/>
        </p:spPr>
        <p:txBody>
          <a:bodyPr wrap="square" lIns="0" tIns="0" rIns="0" bIns="0" rtlCol="0" anchor="ctr"/>
          <a:lstStyle/>
          <a:p>
            <a:pPr algn="ctr" indent="0" marL="0">
              <a:buNone/>
            </a:pPr>
            <a:r>
              <a:rPr lang="en-US" sz="1100" b="1" dirty="0">
                <a:solidFill>
                  <a:schemeClr val="bg1"/>
                </a:solidFill>
              </a:rPr>
              <a:t>Chu kỳ</a:t>
            </a:r>
            <a:endParaRPr lang="en-US" sz="1100" dirty="0"/>
          </a:p>
        </p:txBody>
      </p:sp>
      <p:sp>
        <p:nvSpPr>
          <p:cNvPr id="9" name="Text 7"/>
          <p:cNvSpPr txBox="1"/>
          <p:nvPr/>
        </p:nvSpPr>
        <p:spPr>
          <a:xfrm>
            <a:off x="4023360" y="1051560"/>
            <a:ext cx="4572000" cy="292608"/>
          </a:xfrm>
          <a:prstGeom prst="rect">
            <a:avLst/>
          </a:prstGeom>
          <a:noFill/>
          <a:ln/>
        </p:spPr>
        <p:txBody>
          <a:bodyPr wrap="square" lIns="0" tIns="0" rIns="0" bIns="0" rtlCol="0" anchor="ctr"/>
          <a:lstStyle/>
          <a:p>
            <a:pPr algn="r" indent="0" marL="0">
              <a:buNone/>
            </a:pPr>
            <a:r>
              <a:rPr lang="en-US" sz="1100" dirty="0">
                <a:solidFill>
                  <a:schemeClr val="tx2"/>
                </a:solidFill>
              </a:rPr>
              <a:t>Chu kỳ 1 (T9–T11) · tạm tính đến 20/10/2026</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8046720" cy="914400"/>
        </p:xfrm>
        <a:graphic>
          <a:graphicData uri="http://schemas.openxmlformats.org/drawingml/2006/table">
            <a:tbl>
              <a:tblPr/>
              <a:tblGrid>
                <a:gridCol w="1280160"/>
                <a:gridCol w="731520"/>
                <a:gridCol w="868680"/>
                <a:gridCol w="1463040"/>
                <a:gridCol w="3703320"/>
              </a:tblGrid>
              <a:tr h="347472">
                <a:tc>
                  <a:txBody>
                    <a:bodyPr/>
                    <a:lstStyle/>
                    <a:p>
                      <a:pPr indent="0" marL="0">
                        <a:buNone/>
                      </a:pPr>
                      <a:r>
                        <a:rPr lang="en-US" sz="1100" b="1" dirty="0">
                          <a:solidFill>
                            <a:schemeClr val="tx2"/>
                          </a:solidFill>
                        </a:rPr>
                        <a:t>Học sinh</a:t>
                      </a:r>
                      <a:endParaRPr lang="en-US" sz="11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c>
                  <a:txBody>
                    <a:bodyPr/>
                    <a:lstStyle/>
                    <a:p>
                      <a:pPr indent="0" marL="0">
                        <a:buNone/>
                      </a:pPr>
                      <a:r>
                        <a:rPr lang="en-US" sz="1100" b="1" dirty="0">
                          <a:solidFill>
                            <a:schemeClr val="tx2"/>
                          </a:solidFill>
                        </a:rPr>
                        <a:t>Số bài</a:t>
                      </a:r>
                      <a:endParaRPr lang="en-US" sz="11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c>
                  <a:txBody>
                    <a:bodyPr/>
                    <a:lstStyle/>
                    <a:p>
                      <a:pPr indent="0" marL="0">
                        <a:buNone/>
                      </a:pPr>
                      <a:r>
                        <a:rPr lang="en-US" sz="1100" b="1" dirty="0">
                          <a:solidFill>
                            <a:schemeClr val="tx2"/>
                          </a:solidFill>
                        </a:rPr>
                        <a:t>Gần nhất</a:t>
                      </a:r>
                      <a:endParaRPr lang="en-US" sz="11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c>
                  <a:txBody>
                    <a:bodyPr/>
                    <a:lstStyle/>
                    <a:p>
                      <a:pPr indent="0" marL="0">
                        <a:buNone/>
                      </a:pPr>
                      <a:r>
                        <a:rPr lang="en-US" sz="1100" b="1" dirty="0">
                          <a:solidFill>
                            <a:schemeClr val="tx2"/>
                          </a:solidFill>
                        </a:rPr>
                        <a:t>Xu hướng</a:t>
                      </a:r>
                      <a:endParaRPr lang="en-US" sz="11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c>
                  <a:txBody>
                    <a:bodyPr/>
                    <a:lstStyle/>
                    <a:p>
                      <a:pPr indent="0" marL="0">
                        <a:buNone/>
                      </a:pPr>
                      <a:r>
                        <a:rPr lang="en-US" sz="1100" b="1" dirty="0">
                          <a:solidFill>
                            <a:schemeClr val="tx2"/>
                          </a:solidFill>
                        </a:rPr>
                        <a:t>Nhận xét ngắn</a:t>
                      </a:r>
                      <a:endParaRPr lang="en-US" sz="11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r>
              <a:tr h="347472">
                <a:tc>
                  <a:txBody>
                    <a:bodyPr/>
                    <a:lstStyle/>
                    <a:p>
                      <a:pPr indent="0" marL="0">
                        <a:buNone/>
                      </a:pPr>
                      <a:r>
                        <a:rPr lang="en-US" sz="1200" dirty="0">
                          <a:solidFill>
                            <a:schemeClr val="tx1"/>
                          </a:solidFill>
                        </a:rPr>
                        <a:t>Học sinh 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7.2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b="1" dirty="0">
                          <a:solidFill>
                            <a:schemeClr val="tx1"/>
                          </a:solidFill>
                        </a:rPr>
                        <a:t>Tiến bộ</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Trung vị tăng 1.8 (5.2 → 7.0)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347472">
                <a:tc>
                  <a:txBody>
                    <a:bodyPr/>
                    <a:lstStyle/>
                    <a:p>
                      <a:pPr indent="0" marL="0">
                        <a:buNone/>
                      </a:pPr>
                      <a:r>
                        <a:rPr lang="en-US" sz="1200" dirty="0">
                          <a:solidFill>
                            <a:schemeClr val="tx1"/>
                          </a:solidFill>
                        </a:rPr>
                        <a:t>Học sinh B</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6.2</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b="1" dirty="0">
                          <a:solidFill>
                            <a:schemeClr val="tx1"/>
                          </a:solidFill>
                        </a:rPr>
                        <a:t>Thụt lùi</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Trung vị giảm 1.6 (8.1 → 6.5)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347472">
                <a:tc>
                  <a:txBody>
                    <a:bodyPr/>
                    <a:lstStyle/>
                    <a:p>
                      <a:pPr indent="0" marL="0">
                        <a:buNone/>
                      </a:pPr>
                      <a:r>
                        <a:rPr lang="en-US" sz="1200" dirty="0">
                          <a:solidFill>
                            <a:schemeClr val="tx1"/>
                          </a:solidFill>
                        </a:rPr>
                        <a:t>Học sinh C</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8.1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b="1" dirty="0">
                          <a:solidFill>
                            <a:schemeClr val="tx1"/>
                          </a:solidFill>
                        </a:rPr>
                        <a:t>Không ổn định</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Giảm 1.8 rồi tăng 1.9 trong 4 bài gần nhất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347472">
                <a:tc>
                  <a:txBody>
                    <a:bodyPr/>
                    <a:lstStyle/>
                    <a:p>
                      <a:pPr indent="0" marL="0">
                        <a:buNone/>
                      </a:pPr>
                      <a:r>
                        <a:rPr lang="en-US" sz="1200" dirty="0">
                          <a:solidFill>
                            <a:schemeClr val="tx1"/>
                          </a:solidFill>
                        </a:rPr>
                        <a:t>Học sinh 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7.5</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b="1" dirty="0">
                          <a:solidFill>
                            <a:schemeClr val="tx1"/>
                          </a:solidFill>
                        </a:rPr>
                        <a:t>Cân bằng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Trung vị tăng 0.3, dưới ngưỡng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347472">
                <a:tc>
                  <a:txBody>
                    <a:bodyPr/>
                    <a:lstStyle/>
                    <a:p>
                      <a:pPr indent="0" marL="0">
                        <a:buNone/>
                      </a:pPr>
                      <a:r>
                        <a:rPr lang="en-US" sz="1200" dirty="0">
                          <a:solidFill>
                            <a:schemeClr val="tx1"/>
                          </a:solidFill>
                        </a:rPr>
                        <a:t>Học sinh 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7.6</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b="1" dirty="0">
                          <a:solidFill>
                            <a:schemeClr val="tx1"/>
                          </a:solidFill>
                        </a:rPr>
                        <a:t>Cân bằng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Từng biến động lớn, gần đây đã ổn định</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347472">
                <a:tc>
                  <a:txBody>
                    <a:bodyPr/>
                    <a:lstStyle/>
                    <a:p>
                      <a:pPr indent="0" marL="0">
                        <a:buNone/>
                      </a:pPr>
                      <a:r>
                        <a:rPr lang="en-US" sz="1200" dirty="0">
                          <a:solidFill>
                            <a:schemeClr val="tx1"/>
                          </a:solidFill>
                        </a:rPr>
                        <a:t>Học sinh F</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7.0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b="1" dirty="0">
                          <a:solidFill>
                            <a:schemeClr val="tx1"/>
                          </a:solidFill>
                        </a:rPr>
                        <a:t>Chưa đủ dữ liệu</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200" dirty="0">
                          <a:solidFill>
                            <a:schemeClr val="tx1"/>
                          </a:solidFill>
                        </a:rPr>
                        <a:t>Mới có 3 bài</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bl>
          </a:graphicData>
        </a:graphic>
      </p:graphicFrame>
      <p:sp>
        <p:nvSpPr>
          <p:cNvPr id="11" name="Text 8"/>
          <p:cNvSpPr txBox="1"/>
          <p:nvPr/>
        </p:nvSpPr>
        <p:spPr>
          <a:xfrm>
            <a:off x="548640" y="4160520"/>
            <a:ext cx="8046720" cy="274320"/>
          </a:xfrm>
          <a:prstGeom prst="rect">
            <a:avLst/>
          </a:prstGeom>
          <a:noFill/>
          <a:ln/>
        </p:spPr>
        <p:txBody>
          <a:bodyPr wrap="square" lIns="0" tIns="0" rIns="0" bIns="0" rtlCol="0" anchor="t"/>
          <a:lstStyle/>
          <a:p>
            <a:pPr indent="0" marL="0">
              <a:buNone/>
            </a:pPr>
            <a:r>
              <a:rPr lang="en-US" sz="1200" dirty="0">
                <a:solidFill>
                  <a:schemeClr val="tx2"/>
                </a:solidFill>
              </a:rPr>
              <a:t>Bấm vào một học sinh để mở biểu đồ. Dữ liệu minh hoạ, nhãn tính đúng theo quy tắc V1.3.</a:t>
            </a:r>
            <a:endParaRPr lang="en-US" sz="12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Màn hình 2: Biểu đồ của học sinh</a:t>
            </a:r>
            <a:endParaRPr lang="en-US" sz="2800" dirty="0"/>
          </a:p>
        </p:txBody>
      </p:sp>
      <p:sp>
        <p:nvSpPr>
          <p:cNvPr id="3" name="Nút 4 bài gần nhất"/>
          <p:cNvSpPr/>
          <p:nvPr/>
        </p:nvSpPr>
        <p:spPr>
          <a:xfrm>
            <a:off x="548640" y="1051560"/>
            <a:ext cx="1289304" cy="292608"/>
          </a:xfrm>
          <a:prstGeom prst="roundRect">
            <a:avLst>
              <a:gd name="adj" fmla="val 50000"/>
            </a:avLst>
          </a:prstGeom>
          <a:solidFill>
            <a:schemeClr val="bg1"/>
          </a:solidFill>
          <a:ln w="9525">
            <a:solidFill>
              <a:srgbClr val="D1D5DB"/>
            </a:solidFill>
            <a:prstDash val="solid"/>
          </a:ln>
        </p:spPr>
      </p:sp>
      <p:sp>
        <p:nvSpPr>
          <p:cNvPr id="4" name="Text 2"/>
          <p:cNvSpPr txBox="1"/>
          <p:nvPr/>
        </p:nvSpPr>
        <p:spPr>
          <a:xfrm>
            <a:off x="548640" y="1051560"/>
            <a:ext cx="1289304" cy="292608"/>
          </a:xfrm>
          <a:prstGeom prst="rect">
            <a:avLst/>
          </a:prstGeom>
          <a:noFill/>
          <a:ln/>
        </p:spPr>
        <p:txBody>
          <a:bodyPr wrap="square" lIns="0" tIns="0" rIns="0" bIns="0" rtlCol="0" anchor="ctr"/>
          <a:lstStyle/>
          <a:p>
            <a:pPr algn="ctr" indent="0" marL="0">
              <a:buNone/>
            </a:pPr>
            <a:r>
              <a:rPr lang="en-US" sz="1100" dirty="0">
                <a:solidFill>
                  <a:schemeClr val="tx1"/>
                </a:solidFill>
              </a:rPr>
              <a:t>4 bài gần nhất</a:t>
            </a:r>
            <a:endParaRPr lang="en-US" sz="1100" dirty="0"/>
          </a:p>
        </p:txBody>
      </p:sp>
      <p:sp>
        <p:nvSpPr>
          <p:cNvPr id="5" name="Nút Tháng"/>
          <p:cNvSpPr/>
          <p:nvPr/>
        </p:nvSpPr>
        <p:spPr>
          <a:xfrm>
            <a:off x="1929384" y="1051560"/>
            <a:ext cx="589788" cy="292608"/>
          </a:xfrm>
          <a:prstGeom prst="roundRect">
            <a:avLst>
              <a:gd name="adj" fmla="val 50000"/>
            </a:avLst>
          </a:prstGeom>
          <a:solidFill>
            <a:schemeClr val="bg1"/>
          </a:solidFill>
          <a:ln w="9525">
            <a:solidFill>
              <a:srgbClr val="D1D5DB"/>
            </a:solidFill>
            <a:prstDash val="solid"/>
          </a:ln>
        </p:spPr>
      </p:sp>
      <p:sp>
        <p:nvSpPr>
          <p:cNvPr id="6" name="Text 4"/>
          <p:cNvSpPr txBox="1"/>
          <p:nvPr/>
        </p:nvSpPr>
        <p:spPr>
          <a:xfrm>
            <a:off x="1929384" y="1051560"/>
            <a:ext cx="589788" cy="292608"/>
          </a:xfrm>
          <a:prstGeom prst="rect">
            <a:avLst/>
          </a:prstGeom>
          <a:noFill/>
          <a:ln/>
        </p:spPr>
        <p:txBody>
          <a:bodyPr wrap="square" lIns="0" tIns="0" rIns="0" bIns="0" rtlCol="0" anchor="ctr"/>
          <a:lstStyle/>
          <a:p>
            <a:pPr algn="ctr" indent="0" marL="0">
              <a:buNone/>
            </a:pPr>
            <a:r>
              <a:rPr lang="en-US" sz="1100" dirty="0">
                <a:solidFill>
                  <a:schemeClr val="tx1"/>
                </a:solidFill>
              </a:rPr>
              <a:t>Tháng</a:t>
            </a:r>
            <a:endParaRPr lang="en-US" sz="1100" dirty="0"/>
          </a:p>
        </p:txBody>
      </p:sp>
      <p:sp>
        <p:nvSpPr>
          <p:cNvPr id="7" name="Nút Chu kỳ"/>
          <p:cNvSpPr/>
          <p:nvPr/>
        </p:nvSpPr>
        <p:spPr>
          <a:xfrm>
            <a:off x="2610612" y="1051560"/>
            <a:ext cx="667512" cy="292608"/>
          </a:xfrm>
          <a:prstGeom prst="roundRect">
            <a:avLst>
              <a:gd name="adj" fmla="val 50000"/>
            </a:avLst>
          </a:prstGeom>
          <a:solidFill>
            <a:schemeClr val="accent1"/>
          </a:solidFill>
          <a:ln w="9525">
            <a:solidFill>
              <a:srgbClr val="0F766E"/>
            </a:solidFill>
            <a:prstDash val="solid"/>
          </a:ln>
        </p:spPr>
      </p:sp>
      <p:sp>
        <p:nvSpPr>
          <p:cNvPr id="8" name="Text 6"/>
          <p:cNvSpPr txBox="1"/>
          <p:nvPr/>
        </p:nvSpPr>
        <p:spPr>
          <a:xfrm>
            <a:off x="2610612" y="1051560"/>
            <a:ext cx="667512" cy="292608"/>
          </a:xfrm>
          <a:prstGeom prst="rect">
            <a:avLst/>
          </a:prstGeom>
          <a:noFill/>
          <a:ln/>
        </p:spPr>
        <p:txBody>
          <a:bodyPr wrap="square" lIns="0" tIns="0" rIns="0" bIns="0" rtlCol="0" anchor="ctr"/>
          <a:lstStyle/>
          <a:p>
            <a:pPr algn="ctr" indent="0" marL="0">
              <a:buNone/>
            </a:pPr>
            <a:r>
              <a:rPr lang="en-US" sz="1100" b="1" dirty="0">
                <a:solidFill>
                  <a:schemeClr val="bg1"/>
                </a:solidFill>
              </a:rPr>
              <a:t>Chu kỳ</a:t>
            </a:r>
            <a:endParaRPr lang="en-US" sz="1100" dirty="0"/>
          </a:p>
        </p:txBody>
      </p:sp>
      <p:sp>
        <p:nvSpPr>
          <p:cNvPr id="9" name="Nút Năm"/>
          <p:cNvSpPr/>
          <p:nvPr/>
        </p:nvSpPr>
        <p:spPr>
          <a:xfrm>
            <a:off x="3369564" y="1051560"/>
            <a:ext cx="434340" cy="292608"/>
          </a:xfrm>
          <a:prstGeom prst="roundRect">
            <a:avLst>
              <a:gd name="adj" fmla="val 50000"/>
            </a:avLst>
          </a:prstGeom>
          <a:solidFill>
            <a:schemeClr val="bg1"/>
          </a:solidFill>
          <a:ln w="9525">
            <a:solidFill>
              <a:srgbClr val="D1D5DB"/>
            </a:solidFill>
            <a:prstDash val="solid"/>
          </a:ln>
        </p:spPr>
      </p:sp>
      <p:sp>
        <p:nvSpPr>
          <p:cNvPr id="10" name="Text 8"/>
          <p:cNvSpPr txBox="1"/>
          <p:nvPr/>
        </p:nvSpPr>
        <p:spPr>
          <a:xfrm>
            <a:off x="3369564" y="1051560"/>
            <a:ext cx="434340" cy="292608"/>
          </a:xfrm>
          <a:prstGeom prst="rect">
            <a:avLst/>
          </a:prstGeom>
          <a:noFill/>
          <a:ln/>
        </p:spPr>
        <p:txBody>
          <a:bodyPr wrap="square" lIns="0" tIns="0" rIns="0" bIns="0" rtlCol="0" anchor="ctr"/>
          <a:lstStyle/>
          <a:p>
            <a:pPr algn="ctr" indent="0" marL="0">
              <a:buNone/>
            </a:pPr>
            <a:r>
              <a:rPr lang="en-US" sz="1100" dirty="0">
                <a:solidFill>
                  <a:schemeClr val="tx1"/>
                </a:solidFill>
              </a:rPr>
              <a:t>Năm</a:t>
            </a:r>
            <a:endParaRPr lang="en-US" sz="1100" dirty="0"/>
          </a:p>
        </p:txBody>
      </p:sp>
      <p:sp>
        <p:nvSpPr>
          <p:cNvPr id="11" name="Text 9"/>
          <p:cNvSpPr txBox="1"/>
          <p:nvPr/>
        </p:nvSpPr>
        <p:spPr>
          <a:xfrm>
            <a:off x="548640" y="1463040"/>
            <a:ext cx="5120640" cy="274320"/>
          </a:xfrm>
          <a:prstGeom prst="rect">
            <a:avLst/>
          </a:prstGeom>
          <a:noFill/>
          <a:ln/>
        </p:spPr>
        <p:txBody>
          <a:bodyPr wrap="square" lIns="0" tIns="0" rIns="0" bIns="0" rtlCol="0" anchor="t"/>
          <a:lstStyle/>
          <a:p>
            <a:pPr indent="0" marL="0">
              <a:buNone/>
            </a:pPr>
            <a:r>
              <a:rPr lang="en-US" sz="1100" dirty="0">
                <a:solidFill>
                  <a:schemeClr val="tx2"/>
                </a:solidFill>
              </a:rPr>
              <a:t>Học sinh A · Chu kỳ 1 · 7 bài · tạm tính đến 20/10/2026</a:t>
            </a:r>
            <a:endParaRPr lang="en-US" sz="1100" dirty="0"/>
          </a:p>
        </p:txBody>
      </p:sp>
      <p:graphicFrame>
        <p:nvGraphicFramePr>
          <p:cNvPr id="12" name="Biểu đồ điểm Học sinh A" descr=""/>
          <p:cNvGraphicFramePr/>
          <p:nvPr/>
        </p:nvGraphicFramePr>
        <p:xfrm>
          <a:off x="457200" y="1737360"/>
          <a:ext cx="5212080" cy="28346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897880" y="1508760"/>
            <a:ext cx="2743200" cy="457200"/>
          </a:xfrm>
          <a:prstGeom prst="rect">
            <a:avLst/>
          </a:prstGeom>
          <a:noFill/>
          <a:ln/>
        </p:spPr>
        <p:txBody>
          <a:bodyPr wrap="square" lIns="0" tIns="0" rIns="0" bIns="0" rtlCol="0" anchor="t"/>
          <a:lstStyle/>
          <a:p>
            <a:pPr indent="0" marL="0">
              <a:buNone/>
            </a:pPr>
            <a:r>
              <a:rPr lang="en-US" sz="2400" b="1" dirty="0">
                <a:solidFill>
                  <a:schemeClr val="accent1"/>
                </a:solidFill>
              </a:rPr>
              <a:t>Tiến bộ</a:t>
            </a:r>
            <a:endParaRPr lang="en-US" sz="2400" dirty="0"/>
          </a:p>
        </p:txBody>
      </p:sp>
      <p:sp>
        <p:nvSpPr>
          <p:cNvPr id="14" name="Text 11"/>
          <p:cNvSpPr txBox="1"/>
          <p:nvPr/>
        </p:nvSpPr>
        <p:spPr>
          <a:xfrm>
            <a:off x="5897880" y="2057400"/>
            <a:ext cx="2743200" cy="274320"/>
          </a:xfrm>
          <a:prstGeom prst="rect">
            <a:avLst/>
          </a:prstGeom>
          <a:noFill/>
          <a:ln/>
        </p:spPr>
        <p:txBody>
          <a:bodyPr wrap="square" lIns="0" tIns="0" rIns="0" bIns="0" rtlCol="0" anchor="t"/>
          <a:lstStyle/>
          <a:p>
            <a:pPr indent="0" marL="0">
              <a:buNone/>
            </a:pPr>
            <a:r>
              <a:rPr lang="en-US" sz="1200" b="1" dirty="0">
                <a:solidFill>
                  <a:schemeClr val="tx2"/>
                </a:solidFill>
              </a:rPr>
              <a:t>Vì sao</a:t>
            </a:r>
            <a:endParaRPr lang="en-US" sz="1200" dirty="0"/>
          </a:p>
        </p:txBody>
      </p:sp>
      <p:sp>
        <p:nvSpPr>
          <p:cNvPr id="15" name="Text 12"/>
          <p:cNvSpPr txBox="1"/>
          <p:nvPr/>
        </p:nvSpPr>
        <p:spPr>
          <a:xfrm>
            <a:off x="5897880" y="2331720"/>
            <a:ext cx="2697480" cy="118872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chemeClr val="tx1"/>
                </a:solidFill>
              </a:rPr>
              <a:t>Có 7 bài, nên so trung vị</a:t>
            </a:r>
            <a:endParaRPr lang="en-US" sz="1300" dirty="0"/>
          </a:p>
          <a:p>
            <a:pPr marL="342900" indent="-342900">
              <a:spcAft>
                <a:spcPts val="400"/>
              </a:spcAft>
              <a:buSzPct val="100000"/>
              <a:buFont typeface="+mj-lt"/>
              <a:buAutoNum type="arabicPeriod" startAt="1"/>
            </a:pPr>
            <a:r>
              <a:rPr lang="en-US" sz="1300" dirty="0">
                <a:solidFill>
                  <a:schemeClr val="tx1"/>
                </a:solidFill>
              </a:rPr>
              <a:t>4 bài gần nhất không có nhịp đảo chiều ≥ 1.5</a:t>
            </a:r>
            <a:endParaRPr lang="en-US" sz="1300" dirty="0"/>
          </a:p>
          <a:p>
            <a:pPr marL="342900" indent="-342900">
              <a:spcAft>
                <a:spcPts val="400"/>
              </a:spcAft>
              <a:buSzPct val="100000"/>
              <a:buFont typeface="+mj-lt"/>
              <a:buAutoNum type="arabicPeriod" startAt="1"/>
            </a:pPr>
            <a:r>
              <a:rPr lang="en-US" sz="1300" dirty="0">
                <a:solidFill>
                  <a:schemeClr val="tx1"/>
                </a:solidFill>
              </a:rPr>
              <a:t>Trung vị tăng 1.8 (ngưỡng 1.0)</a:t>
            </a:r>
            <a:endParaRPr lang="en-US" sz="1300" dirty="0"/>
          </a:p>
        </p:txBody>
      </p:sp>
      <p:sp>
        <p:nvSpPr>
          <p:cNvPr id="16" name="Text 13"/>
          <p:cNvSpPr txBox="1"/>
          <p:nvPr/>
        </p:nvSpPr>
        <p:spPr>
          <a:xfrm>
            <a:off x="5897880" y="3566160"/>
            <a:ext cx="2743200" cy="274320"/>
          </a:xfrm>
          <a:prstGeom prst="rect">
            <a:avLst/>
          </a:prstGeom>
          <a:noFill/>
          <a:ln/>
        </p:spPr>
        <p:txBody>
          <a:bodyPr wrap="square" lIns="0" tIns="0" rIns="0" bIns="0" rtlCol="0" anchor="t"/>
          <a:lstStyle/>
          <a:p>
            <a:pPr indent="0" marL="0">
              <a:buNone/>
            </a:pPr>
            <a:r>
              <a:rPr lang="en-US" sz="1200" b="1" dirty="0">
                <a:solidFill>
                  <a:schemeClr val="tx2"/>
                </a:solidFill>
              </a:rPr>
              <a:t>Nhận xét</a:t>
            </a:r>
            <a:endParaRPr lang="en-US" sz="1200" dirty="0"/>
          </a:p>
        </p:txBody>
      </p:sp>
      <p:sp>
        <p:nvSpPr>
          <p:cNvPr id="17" name="Text 14"/>
          <p:cNvSpPr txBox="1"/>
          <p:nvPr/>
        </p:nvSpPr>
        <p:spPr>
          <a:xfrm>
            <a:off x="5897880" y="3840480"/>
            <a:ext cx="2697480" cy="548640"/>
          </a:xfrm>
          <a:prstGeom prst="rect">
            <a:avLst/>
          </a:prstGeom>
          <a:noFill/>
          <a:ln/>
        </p:spPr>
        <p:txBody>
          <a:bodyPr wrap="square" lIns="0" tIns="0" rIns="0" bIns="0" rtlCol="0" anchor="t"/>
          <a:lstStyle/>
          <a:p>
            <a:pPr indent="0" marL="0">
              <a:buNone/>
            </a:pPr>
            <a:r>
              <a:rPr lang="en-US" sz="1300" dirty="0">
                <a:solidFill>
                  <a:schemeClr val="tx1"/>
                </a:solidFill>
              </a:rPr>
              <a:t>Điểm tăng đều, từ 5.0 ở bài đầu lên 7.2 ở bài gần nhất.</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Mỗi nút trên biểu đồ lấy dữ liệu gì</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1828800"/>
                <a:gridCol w="2743200"/>
                <a:gridCol w="3474720"/>
              </a:tblGrid>
              <a:tr h="365760">
                <a:tc>
                  <a:txBody>
                    <a:bodyPr/>
                    <a:lstStyle/>
                    <a:p>
                      <a:pPr indent="0" marL="0">
                        <a:buNone/>
                      </a:pPr>
                      <a:r>
                        <a:rPr lang="en-US" sz="1200" b="1" dirty="0">
                          <a:solidFill>
                            <a:schemeClr val="tx2"/>
                          </a:solidFill>
                        </a:rPr>
                        <a:t>Nút</a:t>
                      </a:r>
                      <a:endParaRPr lang="en-US" sz="12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c>
                  <a:txBody>
                    <a:bodyPr/>
                    <a:lstStyle/>
                    <a:p>
                      <a:pPr indent="0" marL="0">
                        <a:buNone/>
                      </a:pPr>
                      <a:r>
                        <a:rPr lang="en-US" sz="1200" b="1" dirty="0">
                          <a:solidFill>
                            <a:schemeClr val="tx2"/>
                          </a:solidFill>
                        </a:rPr>
                        <a:t>Dữ liệu dùng</a:t>
                      </a:r>
                      <a:endParaRPr lang="en-US" sz="12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c>
                  <a:txBody>
                    <a:bodyPr/>
                    <a:lstStyle/>
                    <a:p>
                      <a:pPr indent="0" marL="0">
                        <a:buNone/>
                      </a:pPr>
                      <a:r>
                        <a:rPr lang="en-US" sz="1200" b="1" dirty="0">
                          <a:solidFill>
                            <a:schemeClr val="tx2"/>
                          </a:solidFill>
                        </a:rPr>
                        <a:t>Nhãn</a:t>
                      </a:r>
                      <a:endParaRPr lang="en-US" sz="1200" dirty="0"/>
                    </a:p>
                  </a:txBody>
                  <a:tcPr marL="91440" marR="91440" marT="45720" marB="45720" anchor="b">
                    <a:lnL w="0" cap="flat" cmpd="sng" algn="ctr">
                      <a:noFill/>
                    </a:lnL>
                    <a:lnR w="0" cap="flat" cmpd="sng" algn="ctr">
                      <a:noFill/>
                    </a:lnR>
                    <a:lnT w="0" cap="flat" cmpd="sng" algn="ctr">
                      <a:noFill/>
                    </a:lnT>
                    <a:lnB w="12700" cap="flat" cmpd="sng" algn="ctr">
                      <a:solidFill>
                        <a:srgbClr val="6B7280"/>
                      </a:solidFill>
                      <a:prstDash val="solid"/>
                      <a:round/>
                      <a:headEnd type="none" w="med" len="med"/>
                      <a:tailEnd type="none" w="med" len="med"/>
                    </a:lnB>
                  </a:tcPr>
                </a:tc>
              </a:tr>
              <a:tr h="502920">
                <a:tc>
                  <a:txBody>
                    <a:bodyPr/>
                    <a:lstStyle/>
                    <a:p>
                      <a:pPr indent="0" marL="0">
                        <a:buNone/>
                      </a:pPr>
                      <a:r>
                        <a:rPr lang="en-US" sz="1300" b="1" dirty="0">
                          <a:solidFill>
                            <a:schemeClr val="tx1"/>
                          </a:solidFill>
                        </a:rPr>
                        <a:t>4 bài gần nhất</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4 bài hợp lệ mới nhất</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Có. Luôn tính theo cách so bài cuối</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502920">
                <a:tc>
                  <a:txBody>
                    <a:bodyPr/>
                    <a:lstStyle/>
                    <a:p>
                      <a:pPr indent="0" marL="0">
                        <a:buNone/>
                      </a:pPr>
                      <a:r>
                        <a:rPr lang="en-US" sz="1300" b="1" dirty="0">
                          <a:solidFill>
                            <a:schemeClr val="tx1"/>
                          </a:solidFill>
                        </a:rPr>
                        <a:t>Tháng</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Mọi bài trong tháng chọn</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Có. Thường chỉ có 4–5 bài</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502920">
                <a:tc>
                  <a:txBody>
                    <a:bodyPr/>
                    <a:lstStyle/>
                    <a:p>
                      <a:pPr indent="0" marL="0">
                        <a:buNone/>
                      </a:pPr>
                      <a:r>
                        <a:rPr lang="en-US" sz="1300" b="1" dirty="0">
                          <a:solidFill>
                            <a:schemeClr val="tx1"/>
                          </a:solidFill>
                        </a:rPr>
                        <a:t>Chu kỳ</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Mọi bài trong chu kỳ chọn</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Có. Bắt đầu lại khi sang chu kỳ mới</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r h="502920">
                <a:tc>
                  <a:txBody>
                    <a:bodyPr/>
                    <a:lstStyle/>
                    <a:p>
                      <a:pPr indent="0" marL="0">
                        <a:buNone/>
                      </a:pPr>
                      <a:r>
                        <a:rPr lang="en-US" sz="1300" b="1" dirty="0">
                          <a:solidFill>
                            <a:schemeClr val="tx1"/>
                          </a:solidFill>
                        </a:rPr>
                        <a:t>Năm (đề xuất)</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Cả năm học, T9 đến T8</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c>
                  <a:txBody>
                    <a:bodyPr/>
                    <a:lstStyle/>
                    <a:p>
                      <a:pPr indent="0" marL="0">
                        <a:buNone/>
                      </a:pPr>
                      <a:r>
                        <a:rPr lang="en-US" sz="1300" dirty="0">
                          <a:solidFill>
                            <a:schemeClr val="tx1"/>
                          </a:solidFill>
                        </a:rPr>
                        <a:t>Không có nhãn riêng. Hiện nhãn của từng chu kỳ</a:t>
                      </a:r>
                      <a:endParaRPr lang="en-US" sz="1300" dirty="0"/>
                    </a:p>
                  </a:txBody>
                  <a:tcPr marL="91440" marR="91440" marT="45720" marB="45720" anchor="ctr">
                    <a:lnL w="0" cap="flat" cmpd="sng" algn="ctr">
                      <a:noFill/>
                    </a:lnL>
                    <a:lnR w="0" cap="flat" cmpd="sng" algn="ctr">
                      <a:noFill/>
                    </a:lnR>
                    <a:lnT w="0" cap="flat" cmpd="sng" algn="ctr">
                      <a:noFill/>
                    </a:lnT>
                    <a:lnB w="9525" cap="flat" cmpd="sng" algn="ctr">
                      <a:solidFill>
                        <a:srgbClr val="D1D5DB"/>
                      </a:solidFill>
                      <a:prstDash val="solid"/>
                      <a:round/>
                      <a:headEnd type="none" w="med" len="med"/>
                      <a:tailEnd type="none" w="med" len="med"/>
                    </a:lnB>
                  </a:tcPr>
                </a:tc>
              </a:tr>
            </a:tbl>
          </a:graphicData>
        </a:graphic>
      </p:graphicFrame>
      <p:sp>
        <p:nvSpPr>
          <p:cNvPr id="4" name="Text 1"/>
          <p:cNvSpPr txBox="1"/>
          <p:nvPr/>
        </p:nvSpPr>
        <p:spPr>
          <a:xfrm>
            <a:off x="548640" y="3931920"/>
            <a:ext cx="8046720" cy="548640"/>
          </a:xfrm>
          <a:prstGeom prst="rect">
            <a:avLst/>
          </a:prstGeom>
          <a:noFill/>
          <a:ln/>
        </p:spPr>
        <p:txBody>
          <a:bodyPr wrap="square" lIns="0" tIns="0" rIns="0" bIns="0" rtlCol="0" anchor="t"/>
          <a:lstStyle/>
          <a:p>
            <a:pPr indent="0" marL="0">
              <a:buNone/>
            </a:pPr>
            <a:r>
              <a:rPr lang="en-US" sz="1300" dirty="0">
                <a:solidFill>
                  <a:schemeClr val="tx1"/>
                </a:solidFill>
              </a:rPr>
              <a:t>Quy tắc V1.3 chưa có phân loại theo năm, nên chế độ Năm chỉ để xem. Tháng hoặc chu kỳ chưa kết thúc thì ghi "tạm tính".</a:t>
            </a:r>
            <a:endParaRPr lang="en-US" sz="13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40080"/>
          </a:xfrm>
          <a:prstGeom prst="rect">
            <a:avLst/>
          </a:prstGeom>
          <a:noFill/>
          <a:ln/>
        </p:spPr>
        <p:txBody>
          <a:bodyPr wrap="square" lIns="0" tIns="0" rIns="0" bIns="0" rtlCol="0" anchor="t"/>
          <a:lstStyle/>
          <a:p>
            <a:pPr algn="l" indent="0" marL="0">
              <a:buNone/>
            </a:pPr>
            <a:r>
              <a:rPr lang="en-US" sz="2800" b="1" dirty="0">
                <a:solidFill>
                  <a:schemeClr val="tx1"/>
                </a:solidFill>
              </a:rPr>
              <a:t>Cần chốt trước khi làm</a:t>
            </a:r>
            <a:endParaRPr lang="en-US" sz="2800" dirty="0"/>
          </a:p>
        </p:txBody>
      </p:sp>
      <p:sp>
        <p:nvSpPr>
          <p:cNvPr id="3" name="Text 1"/>
          <p:cNvSpPr txBox="1"/>
          <p:nvPr/>
        </p:nvSpPr>
        <p:spPr>
          <a:xfrm>
            <a:off x="548640" y="1097280"/>
            <a:ext cx="365760" cy="365760"/>
          </a:xfrm>
          <a:prstGeom prst="rect">
            <a:avLst/>
          </a:prstGeom>
          <a:noFill/>
          <a:ln/>
        </p:spPr>
        <p:txBody>
          <a:bodyPr wrap="square" lIns="0" tIns="0" rIns="0" bIns="0" rtlCol="0" anchor="ctr"/>
          <a:lstStyle/>
          <a:p>
            <a:pPr indent="0" marL="0">
              <a:buNone/>
            </a:pPr>
            <a:r>
              <a:rPr lang="en-US" sz="1800" b="1" dirty="0">
                <a:solidFill>
                  <a:schemeClr val="accent1"/>
                </a:solidFill>
              </a:rPr>
              <a:t>1</a:t>
            </a:r>
            <a:endParaRPr lang="en-US" sz="1800" dirty="0"/>
          </a:p>
        </p:txBody>
      </p:sp>
      <p:sp>
        <p:nvSpPr>
          <p:cNvPr id="4" name="Text 2"/>
          <p:cNvSpPr txBox="1"/>
          <p:nvPr/>
        </p:nvSpPr>
        <p:spPr>
          <a:xfrm>
            <a:off x="1005840" y="1097280"/>
            <a:ext cx="7589520" cy="365760"/>
          </a:xfrm>
          <a:prstGeom prst="rect">
            <a:avLst/>
          </a:prstGeom>
          <a:noFill/>
          <a:ln/>
        </p:spPr>
        <p:txBody>
          <a:bodyPr wrap="square" lIns="0" tIns="0" rIns="0" bIns="0" rtlCol="0" anchor="ctr"/>
          <a:lstStyle/>
          <a:p>
            <a:pPr indent="0" marL="0">
              <a:buNone/>
            </a:pPr>
            <a:r>
              <a:rPr lang="en-US" sz="1500" dirty="0">
                <a:solidFill>
                  <a:schemeClr val="tx1"/>
                </a:solidFill>
              </a:rPr>
              <a:t>Thế nào là bài hợp lệ: bài vắng, thi lại, bài khác thang điểm</a:t>
            </a:r>
            <a:endParaRPr lang="en-US" sz="1500" dirty="0"/>
          </a:p>
        </p:txBody>
      </p:sp>
      <p:sp>
        <p:nvSpPr>
          <p:cNvPr id="5" name="Text 3"/>
          <p:cNvSpPr txBox="1"/>
          <p:nvPr/>
        </p:nvSpPr>
        <p:spPr>
          <a:xfrm>
            <a:off x="548640" y="1554480"/>
            <a:ext cx="365760" cy="365760"/>
          </a:xfrm>
          <a:prstGeom prst="rect">
            <a:avLst/>
          </a:prstGeom>
          <a:noFill/>
          <a:ln/>
        </p:spPr>
        <p:txBody>
          <a:bodyPr wrap="square" lIns="0" tIns="0" rIns="0" bIns="0" rtlCol="0" anchor="ctr"/>
          <a:lstStyle/>
          <a:p>
            <a:pPr indent="0" marL="0">
              <a:buNone/>
            </a:pPr>
            <a:r>
              <a:rPr lang="en-US" sz="1800" b="1" dirty="0">
                <a:solidFill>
                  <a:schemeClr val="accent1"/>
                </a:solidFill>
              </a:rPr>
              <a:t>2</a:t>
            </a:r>
            <a:endParaRPr lang="en-US" sz="1800" dirty="0"/>
          </a:p>
        </p:txBody>
      </p:sp>
      <p:sp>
        <p:nvSpPr>
          <p:cNvPr id="6" name="Text 4"/>
          <p:cNvSpPr txBox="1"/>
          <p:nvPr/>
        </p:nvSpPr>
        <p:spPr>
          <a:xfrm>
            <a:off x="1005840" y="1554480"/>
            <a:ext cx="7589520" cy="365760"/>
          </a:xfrm>
          <a:prstGeom prst="rect">
            <a:avLst/>
          </a:prstGeom>
          <a:noFill/>
          <a:ln/>
        </p:spPr>
        <p:txBody>
          <a:bodyPr wrap="square" lIns="0" tIns="0" rIns="0" bIns="0" rtlCol="0" anchor="ctr"/>
          <a:lstStyle/>
          <a:p>
            <a:pPr indent="0" marL="0">
              <a:buNone/>
            </a:pPr>
            <a:r>
              <a:rPr lang="en-US" sz="1500" dirty="0">
                <a:solidFill>
                  <a:schemeClr val="tx1"/>
                </a:solidFill>
              </a:rPr>
              <a:t>Quy mọi điểm về thang 10 trước khi tính</a:t>
            </a:r>
            <a:endParaRPr lang="en-US" sz="1500" dirty="0"/>
          </a:p>
        </p:txBody>
      </p:sp>
      <p:sp>
        <p:nvSpPr>
          <p:cNvPr id="7" name="Text 5"/>
          <p:cNvSpPr txBox="1"/>
          <p:nvPr/>
        </p:nvSpPr>
        <p:spPr>
          <a:xfrm>
            <a:off x="548640" y="2011680"/>
            <a:ext cx="365760" cy="365760"/>
          </a:xfrm>
          <a:prstGeom prst="rect">
            <a:avLst/>
          </a:prstGeom>
          <a:noFill/>
          <a:ln/>
        </p:spPr>
        <p:txBody>
          <a:bodyPr wrap="square" lIns="0" tIns="0" rIns="0" bIns="0" rtlCol="0" anchor="ctr"/>
          <a:lstStyle/>
          <a:p>
            <a:pPr indent="0" marL="0">
              <a:buNone/>
            </a:pPr>
            <a:r>
              <a:rPr lang="en-US" sz="1800" b="1" dirty="0">
                <a:solidFill>
                  <a:schemeClr val="accent1"/>
                </a:solidFill>
              </a:rPr>
              <a:t>3</a:t>
            </a:r>
            <a:endParaRPr lang="en-US" sz="1800" dirty="0"/>
          </a:p>
        </p:txBody>
      </p:sp>
      <p:sp>
        <p:nvSpPr>
          <p:cNvPr id="8" name="Text 6"/>
          <p:cNvSpPr txBox="1"/>
          <p:nvPr/>
        </p:nvSpPr>
        <p:spPr>
          <a:xfrm>
            <a:off x="1005840" y="2011680"/>
            <a:ext cx="7589520" cy="365760"/>
          </a:xfrm>
          <a:prstGeom prst="rect">
            <a:avLst/>
          </a:prstGeom>
          <a:noFill/>
          <a:ln/>
        </p:spPr>
        <p:txBody>
          <a:bodyPr wrap="square" lIns="0" tIns="0" rIns="0" bIns="0" rtlCol="0" anchor="ctr"/>
          <a:lstStyle/>
          <a:p>
            <a:pPr indent="0" marL="0">
              <a:buNone/>
            </a:pPr>
            <a:r>
              <a:rPr lang="en-US" sz="1500" dirty="0">
                <a:solidFill>
                  <a:schemeClr val="tx1"/>
                </a:solidFill>
              </a:rPr>
              <a:t>"4 bài gần nhất" có lấy bài của chu kỳ trước không</a:t>
            </a:r>
            <a:endParaRPr lang="en-US" sz="1500" dirty="0"/>
          </a:p>
        </p:txBody>
      </p:sp>
      <p:sp>
        <p:nvSpPr>
          <p:cNvPr id="9" name="Text 7"/>
          <p:cNvSpPr txBox="1"/>
          <p:nvPr/>
        </p:nvSpPr>
        <p:spPr>
          <a:xfrm>
            <a:off x="548640" y="2468880"/>
            <a:ext cx="365760" cy="365760"/>
          </a:xfrm>
          <a:prstGeom prst="rect">
            <a:avLst/>
          </a:prstGeom>
          <a:noFill/>
          <a:ln/>
        </p:spPr>
        <p:txBody>
          <a:bodyPr wrap="square" lIns="0" tIns="0" rIns="0" bIns="0" rtlCol="0" anchor="ctr"/>
          <a:lstStyle/>
          <a:p>
            <a:pPr indent="0" marL="0">
              <a:buNone/>
            </a:pPr>
            <a:r>
              <a:rPr lang="en-US" sz="1800" b="1" dirty="0">
                <a:solidFill>
                  <a:schemeClr val="accent1"/>
                </a:solidFill>
              </a:rPr>
              <a:t>4</a:t>
            </a:r>
            <a:endParaRPr lang="en-US" sz="1800" dirty="0"/>
          </a:p>
        </p:txBody>
      </p:sp>
      <p:sp>
        <p:nvSpPr>
          <p:cNvPr id="10" name="Text 8"/>
          <p:cNvSpPr txBox="1"/>
          <p:nvPr/>
        </p:nvSpPr>
        <p:spPr>
          <a:xfrm>
            <a:off x="1005840" y="2468880"/>
            <a:ext cx="7589520" cy="365760"/>
          </a:xfrm>
          <a:prstGeom prst="rect">
            <a:avLst/>
          </a:prstGeom>
          <a:noFill/>
          <a:ln/>
        </p:spPr>
        <p:txBody>
          <a:bodyPr wrap="square" lIns="0" tIns="0" rIns="0" bIns="0" rtlCol="0" anchor="ctr"/>
          <a:lstStyle/>
          <a:p>
            <a:pPr indent="0" marL="0">
              <a:buNone/>
            </a:pPr>
            <a:r>
              <a:rPr lang="en-US" sz="1500" dirty="0">
                <a:solidFill>
                  <a:schemeClr val="tx1"/>
                </a:solidFill>
              </a:rPr>
              <a:t>Mỗi tháng có mấy bài? Dưới 4 bài thì báo cáo tháng luôn "Chưa đủ dữ liệu"</a:t>
            </a:r>
            <a:endParaRPr lang="en-US" sz="1500" dirty="0"/>
          </a:p>
        </p:txBody>
      </p:sp>
      <p:sp>
        <p:nvSpPr>
          <p:cNvPr id="11" name="Text 9"/>
          <p:cNvSpPr txBox="1"/>
          <p:nvPr/>
        </p:nvSpPr>
        <p:spPr>
          <a:xfrm>
            <a:off x="548640" y="2926080"/>
            <a:ext cx="365760" cy="365760"/>
          </a:xfrm>
          <a:prstGeom prst="rect">
            <a:avLst/>
          </a:prstGeom>
          <a:noFill/>
          <a:ln/>
        </p:spPr>
        <p:txBody>
          <a:bodyPr wrap="square" lIns="0" tIns="0" rIns="0" bIns="0" rtlCol="0" anchor="ctr"/>
          <a:lstStyle/>
          <a:p>
            <a:pPr indent="0" marL="0">
              <a:buNone/>
            </a:pPr>
            <a:r>
              <a:rPr lang="en-US" sz="1800" b="1" dirty="0">
                <a:solidFill>
                  <a:schemeClr val="accent1"/>
                </a:solidFill>
              </a:rPr>
              <a:t>5</a:t>
            </a:r>
            <a:endParaRPr lang="en-US" sz="1800" dirty="0"/>
          </a:p>
        </p:txBody>
      </p:sp>
      <p:sp>
        <p:nvSpPr>
          <p:cNvPr id="12" name="Text 10"/>
          <p:cNvSpPr txBox="1"/>
          <p:nvPr/>
        </p:nvSpPr>
        <p:spPr>
          <a:xfrm>
            <a:off x="1005840" y="2926080"/>
            <a:ext cx="7589520" cy="365760"/>
          </a:xfrm>
          <a:prstGeom prst="rect">
            <a:avLst/>
          </a:prstGeom>
          <a:noFill/>
          <a:ln/>
        </p:spPr>
        <p:txBody>
          <a:bodyPr wrap="square" lIns="0" tIns="0" rIns="0" bIns="0" rtlCol="0" anchor="ctr"/>
          <a:lstStyle/>
          <a:p>
            <a:pPr indent="0" marL="0">
              <a:buNone/>
            </a:pPr>
            <a:r>
              <a:rPr lang="en-US" sz="1500" dirty="0">
                <a:solidFill>
                  <a:schemeClr val="tx1"/>
                </a:solidFill>
              </a:rPr>
              <a:t>Chuỗi 8 → 8 → 8 → 6.4 thành Thụt lùi chỉ vì bài cuối. Có chấp nhận không</a:t>
            </a:r>
            <a:endParaRPr lang="en-US" sz="1500" dirty="0"/>
          </a:p>
        </p:txBody>
      </p:sp>
      <p:sp>
        <p:nvSpPr>
          <p:cNvPr id="13" name="Text 11"/>
          <p:cNvSpPr txBox="1"/>
          <p:nvPr/>
        </p:nvSpPr>
        <p:spPr>
          <a:xfrm>
            <a:off x="548640" y="3383280"/>
            <a:ext cx="365760" cy="365760"/>
          </a:xfrm>
          <a:prstGeom prst="rect">
            <a:avLst/>
          </a:prstGeom>
          <a:noFill/>
          <a:ln/>
        </p:spPr>
        <p:txBody>
          <a:bodyPr wrap="square" lIns="0" tIns="0" rIns="0" bIns="0" rtlCol="0" anchor="ctr"/>
          <a:lstStyle/>
          <a:p>
            <a:pPr indent="0" marL="0">
              <a:buNone/>
            </a:pPr>
            <a:r>
              <a:rPr lang="en-US" sz="1800" b="1" dirty="0">
                <a:solidFill>
                  <a:schemeClr val="accent1"/>
                </a:solidFill>
              </a:rPr>
              <a:t>6</a:t>
            </a:r>
            <a:endParaRPr lang="en-US" sz="1800" dirty="0"/>
          </a:p>
        </p:txBody>
      </p:sp>
      <p:sp>
        <p:nvSpPr>
          <p:cNvPr id="14" name="Text 12"/>
          <p:cNvSpPr txBox="1"/>
          <p:nvPr/>
        </p:nvSpPr>
        <p:spPr>
          <a:xfrm>
            <a:off x="1005840" y="3383280"/>
            <a:ext cx="7589520" cy="365760"/>
          </a:xfrm>
          <a:prstGeom prst="rect">
            <a:avLst/>
          </a:prstGeom>
          <a:noFill/>
          <a:ln/>
        </p:spPr>
        <p:txBody>
          <a:bodyPr wrap="square" lIns="0" tIns="0" rIns="0" bIns="0" rtlCol="0" anchor="ctr"/>
          <a:lstStyle/>
          <a:p>
            <a:pPr indent="0" marL="0">
              <a:buNone/>
            </a:pPr>
            <a:r>
              <a:rPr lang="en-US" sz="1500" dirty="0">
                <a:solidFill>
                  <a:schemeClr val="tx1"/>
                </a:solidFill>
              </a:rPr>
              <a:t>Danh sách lớp mặc định hiện phạm vi nào</a:t>
            </a:r>
            <a:endParaRPr lang="en-US" sz="1500" dirty="0"/>
          </a:p>
        </p:txBody>
      </p:sp>
      <p:sp>
        <p:nvSpPr>
          <p:cNvPr id="15" name="Text 13"/>
          <p:cNvSpPr txBox="1"/>
          <p:nvPr/>
        </p:nvSpPr>
        <p:spPr>
          <a:xfrm>
            <a:off x="548640" y="3840480"/>
            <a:ext cx="365760" cy="365760"/>
          </a:xfrm>
          <a:prstGeom prst="rect">
            <a:avLst/>
          </a:prstGeom>
          <a:noFill/>
          <a:ln/>
        </p:spPr>
        <p:txBody>
          <a:bodyPr wrap="square" lIns="0" tIns="0" rIns="0" bIns="0" rtlCol="0" anchor="ctr"/>
          <a:lstStyle/>
          <a:p>
            <a:pPr indent="0" marL="0">
              <a:buNone/>
            </a:pPr>
            <a:r>
              <a:rPr lang="en-US" sz="1800" b="1" dirty="0">
                <a:solidFill>
                  <a:schemeClr val="accent1"/>
                </a:solidFill>
              </a:rPr>
              <a:t>7</a:t>
            </a:r>
            <a:endParaRPr lang="en-US" sz="1800" dirty="0"/>
          </a:p>
        </p:txBody>
      </p:sp>
      <p:sp>
        <p:nvSpPr>
          <p:cNvPr id="16" name="Text 14"/>
          <p:cNvSpPr txBox="1"/>
          <p:nvPr/>
        </p:nvSpPr>
        <p:spPr>
          <a:xfrm>
            <a:off x="1005840" y="3840480"/>
            <a:ext cx="7589520" cy="365760"/>
          </a:xfrm>
          <a:prstGeom prst="rect">
            <a:avLst/>
          </a:prstGeom>
          <a:noFill/>
          <a:ln/>
        </p:spPr>
        <p:txBody>
          <a:bodyPr wrap="square" lIns="0" tIns="0" rIns="0" bIns="0" rtlCol="0" anchor="ctr"/>
          <a:lstStyle/>
          <a:p>
            <a:pPr indent="0" marL="0">
              <a:buNone/>
            </a:pPr>
            <a:r>
              <a:rPr lang="en-US" sz="1500" dirty="0">
                <a:solidFill>
                  <a:schemeClr val="tx1"/>
                </a:solidFill>
              </a:rPr>
              <a:t>Cảnh báo học thuật nằm trong module này hay module khác</a:t>
            </a:r>
            <a:endParaRPr lang="en-US" sz="1500" dirty="0"/>
          </a:p>
        </p:txBody>
      </p:sp>
      <p:sp>
        <p:nvSpPr>
          <p:cNvPr id="25" name="Slide Number Placeholder 0"/>
          <p:cNvSpPr>
            <a:spLocks noGrp="1"/>
          </p:cNvSpPr>
          <p:nvPr>
            <p:ph type="sldNum" sz="quarter" idx="4294967295"/>
          </p:nvPr>
        </p:nvSpPr>
        <p:spPr>
          <a:xfrm>
            <a:off x="8229600" y="4754880"/>
            <a:ext cx="36576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Xu huong toi gian">
  <a:themeElements>
    <a:clrScheme name="Xu huong toi gian">
      <a:dk1>
        <a:srgbClr val="1F2328"/>
      </a:dk1>
      <a:lt1>
        <a:srgbClr val="FFFFFF"/>
      </a:lt1>
      <a:dk2>
        <a:srgbClr val="6B7280"/>
      </a:dk2>
      <a:lt2>
        <a:srgbClr val="F3F4F6"/>
      </a:lt2>
      <a:accent1>
        <a:srgbClr val="0F766E"/>
      </a:accent1>
      <a:accent2>
        <a:srgbClr val="CCE7E4"/>
      </a:accent2>
      <a:accent3>
        <a:srgbClr val="D1D5DB"/>
      </a:accent3>
      <a:accent4>
        <a:srgbClr val="9CA3AF"/>
      </a:accent4>
      <a:accent5>
        <a:srgbClr val="E5E7EB"/>
      </a:accent5>
      <a:accent6>
        <a:srgbClr val="374151"/>
      </a:accent6>
      <a:hlink>
        <a:srgbClr val="0F766E"/>
      </a:hlink>
      <a:folHlink>
        <a:srgbClr val="6B7280"/>
      </a:folHlink>
    </a:clrScheme>
    <a:fontScheme name="Xu huong toi gia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Xu hướng học tập</dc:title>
  <dc:subject>PptxGenJS Presentation</dc:subject>
  <dc:creator>PptxGenJS</dc:creator>
  <cp:lastModifiedBy>PptxGenJS</cp:lastModifiedBy>
  <cp:revision>1</cp:revision>
  <dcterms:created xsi:type="dcterms:W3CDTF">2026-10-20T14:52:22Z</dcterms:created>
  <dcterms:modified xsi:type="dcterms:W3CDTF">2026-10-20T14:52:22Z</dcterms:modified>
</cp:coreProperties>
</file>